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Space Mono"/>
      <p:regular r:id="rId16"/>
      <p:bold r:id="rId17"/>
      <p:italic r:id="rId18"/>
      <p:boldItalic r:id="rId19"/>
    </p:embeddedFont>
    <p:embeddedFont>
      <p:font typeface="Inter"/>
      <p:bold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Inter-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SpaceMono-bold.fntdata"/><Relationship Id="rId16" Type="http://schemas.openxmlformats.org/officeDocument/2006/relationships/font" Target="fonts/SpaceMono-regular.fntdata"/><Relationship Id="rId5" Type="http://schemas.openxmlformats.org/officeDocument/2006/relationships/notesMaster" Target="notesMasters/notesMaster1.xml"/><Relationship Id="rId19" Type="http://schemas.openxmlformats.org/officeDocument/2006/relationships/font" Target="fonts/SpaceMono-boldItalic.fntdata"/><Relationship Id="rId6" Type="http://schemas.openxmlformats.org/officeDocument/2006/relationships/slide" Target="slides/slide1.xml"/><Relationship Id="rId18" Type="http://schemas.openxmlformats.org/officeDocument/2006/relationships/font" Target="fonts/SpaceMon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a0fb67738_1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a0fb67738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a0fb67738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a0fb67738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a0fb67738_1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a0fb67738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a0fb67738_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a0fb67738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a0fb67738_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fa0fb67738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a0fb67738_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a0fb67738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a0fb67738_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fa0fb67738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fa0fb67738_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fa0fb67738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fa0fb67738_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fa0fb67738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fa0fb67738_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fa0fb67738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a0fb67738_2_0)">
  <p:cSld name="Generated (g3fa0fb67738_2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grpSp>
        <p:nvGrpSpPr>
          <p:cNvPr id="55" name="Google Shape;55;p14"/>
          <p:cNvGrpSpPr/>
          <p:nvPr/>
        </p:nvGrpSpPr>
        <p:grpSpPr>
          <a:xfrm>
            <a:off x="0" y="0"/>
            <a:ext cx="9144000" cy="5143500"/>
            <a:chOff x="0" y="0"/>
            <a:chExt cx="9144000" cy="5143500"/>
          </a:xfrm>
        </p:grpSpPr>
        <p:sp>
          <p:nvSpPr>
            <p:cNvPr id="56" name="Google Shape;56;p14"/>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4"/>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14"/>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9" name="Google Shape;59;p14"/>
          <p:cNvGrpSpPr/>
          <p:nvPr/>
        </p:nvGrpSpPr>
        <p:grpSpPr>
          <a:xfrm>
            <a:off x="3805238" y="942975"/>
            <a:ext cx="5724600" cy="1914675"/>
            <a:chOff x="-4762" y="-9525"/>
            <a:chExt cx="5724600" cy="1914675"/>
          </a:xfrm>
        </p:grpSpPr>
        <p:pic>
          <p:nvPicPr>
            <p:cNvPr id="60" name="Google Shape;60;p14"/>
            <p:cNvPicPr preferRelativeResize="0"/>
            <p:nvPr/>
          </p:nvPicPr>
          <p:blipFill rotWithShape="1">
            <a:blip r:embed="rId3">
              <a:alphaModFix/>
            </a:blip>
            <a:srcRect b="0" l="0" r="0" t="0"/>
            <a:stretch/>
          </p:blipFill>
          <p:spPr>
            <a:xfrm>
              <a:off x="-4762" y="-9525"/>
              <a:ext cx="5724600" cy="1452600"/>
            </a:xfrm>
            <a:prstGeom prst="rect">
              <a:avLst/>
            </a:prstGeom>
            <a:noFill/>
            <a:ln>
              <a:noFill/>
            </a:ln>
          </p:spPr>
        </p:pic>
        <p:sp>
          <p:nvSpPr>
            <p:cNvPr id="61" name="Google Shape;61;p14"/>
            <p:cNvSpPr/>
            <p:nvPr/>
          </p:nvSpPr>
          <p:spPr>
            <a:xfrm>
              <a:off x="1371600" y="895350"/>
              <a:ext cx="114300" cy="114300"/>
            </a:xfrm>
            <a:prstGeom prst="ellipse">
              <a:avLst/>
            </a:prstGeom>
            <a:solidFill>
              <a:srgbClr val="06B6D4">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4"/>
            <p:cNvSpPr/>
            <p:nvPr/>
          </p:nvSpPr>
          <p:spPr>
            <a:xfrm>
              <a:off x="2819400" y="438150"/>
              <a:ext cx="76200" cy="76200"/>
            </a:xfrm>
            <a:prstGeom prst="ellipse">
              <a:avLst/>
            </a:prstGeom>
            <a:solidFill>
              <a:srgbClr val="06B6D4">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p:nvPr/>
          </p:nvSpPr>
          <p:spPr>
            <a:xfrm>
              <a:off x="4210050" y="1352550"/>
              <a:ext cx="152400" cy="152400"/>
            </a:xfrm>
            <a:prstGeom prst="ellipse">
              <a:avLst/>
            </a:prstGeom>
            <a:solidFill>
              <a:srgbClr val="06B6D4">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4" name="Google Shape;64;p14"/>
            <p:cNvPicPr preferRelativeResize="0"/>
            <p:nvPr/>
          </p:nvPicPr>
          <p:blipFill rotWithShape="1">
            <a:blip r:embed="rId4">
              <a:alphaModFix/>
            </a:blip>
            <a:srcRect b="0" l="0" r="0" t="0"/>
            <a:stretch/>
          </p:blipFill>
          <p:spPr>
            <a:xfrm>
              <a:off x="1423988" y="476250"/>
              <a:ext cx="2867100" cy="1428900"/>
            </a:xfrm>
            <a:prstGeom prst="rect">
              <a:avLst/>
            </a:prstGeom>
            <a:noFill/>
            <a:ln>
              <a:noFill/>
            </a:ln>
          </p:spPr>
        </p:pic>
      </p:grpSp>
      <p:grpSp>
        <p:nvGrpSpPr>
          <p:cNvPr id="65" name="Google Shape;65;p14"/>
          <p:cNvGrpSpPr/>
          <p:nvPr/>
        </p:nvGrpSpPr>
        <p:grpSpPr>
          <a:xfrm>
            <a:off x="381000" y="142875"/>
            <a:ext cx="8382000" cy="247575"/>
            <a:chOff x="381000" y="142875"/>
            <a:chExt cx="8382000" cy="247575"/>
          </a:xfrm>
        </p:grpSpPr>
        <p:sp>
          <p:nvSpPr>
            <p:cNvPr id="66" name="Google Shape;66;p14"/>
            <p:cNvSpPr/>
            <p:nvPr/>
          </p:nvSpPr>
          <p:spPr>
            <a:xfrm>
              <a:off x="381000" y="190500"/>
              <a:ext cx="8382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 name="Google Shape;67;p14"/>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14"/>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 name="Google Shape;69;p14"/>
            <p:cNvSpPr txBox="1"/>
            <p:nvPr/>
          </p:nvSpPr>
          <p:spPr>
            <a:xfrm>
              <a:off x="381000" y="142875"/>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SOCIETAL ECONOMICS &amp; MACRO-MICRO SIMULATION</a:t>
              </a:r>
              <a:endParaRPr b="0" sz="750">
                <a:solidFill>
                  <a:srgbClr val="94A3B8"/>
                </a:solidFill>
                <a:latin typeface="Space Mono"/>
                <a:ea typeface="Space Mono"/>
                <a:cs typeface="Space Mono"/>
                <a:sym typeface="Space Mono"/>
              </a:endParaRPr>
            </a:p>
          </p:txBody>
        </p:sp>
      </p:grpSp>
      <p:grpSp>
        <p:nvGrpSpPr>
          <p:cNvPr id="70" name="Google Shape;70;p14"/>
          <p:cNvGrpSpPr/>
          <p:nvPr/>
        </p:nvGrpSpPr>
        <p:grpSpPr>
          <a:xfrm>
            <a:off x="381000" y="4848225"/>
            <a:ext cx="8382000" cy="247650"/>
            <a:chOff x="381000" y="4848225"/>
            <a:chExt cx="8382000" cy="247650"/>
          </a:xfrm>
        </p:grpSpPr>
        <p:sp>
          <p:nvSpPr>
            <p:cNvPr id="71" name="Google Shape;71;p14"/>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4"/>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14"/>
            <p:cNvSpPr txBox="1"/>
            <p:nvPr/>
          </p:nvSpPr>
          <p:spPr>
            <a:xfrm>
              <a:off x="381000" y="49053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581">
                  <a:solidFill>
                    <a:srgbClr val="94A3B8"/>
                  </a:solidFill>
                  <a:latin typeface="Space Mono"/>
                  <a:ea typeface="Space Mono"/>
                  <a:cs typeface="Space Mono"/>
                  <a:sym typeface="Space Mono"/>
                </a:rPr>
                <a:t>ORIGIN: COONABARABRAN, NSW, AUSTRALIA // AUTH: ALETHEKANON RESEARCH INSTITUTE</a:t>
              </a:r>
              <a:endParaRPr b="0" sz="581">
                <a:solidFill>
                  <a:srgbClr val="94A3B8"/>
                </a:solidFill>
                <a:latin typeface="Space Mono"/>
                <a:ea typeface="Space Mono"/>
                <a:cs typeface="Space Mono"/>
                <a:sym typeface="Space Mono"/>
              </a:endParaRPr>
            </a:p>
          </p:txBody>
        </p:sp>
        <p:sp>
          <p:nvSpPr>
            <p:cNvPr id="74" name="Google Shape;74;p14"/>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2026-01-24 // SYS.VERIFIED</a:t>
              </a:r>
              <a:endParaRPr b="0" sz="750">
                <a:solidFill>
                  <a:srgbClr val="94A3B8"/>
                </a:solidFill>
                <a:latin typeface="Space Mono"/>
                <a:ea typeface="Space Mono"/>
                <a:cs typeface="Space Mono"/>
                <a:sym typeface="Space Mono"/>
              </a:endParaRPr>
            </a:p>
          </p:txBody>
        </p:sp>
      </p:grpSp>
      <p:grpSp>
        <p:nvGrpSpPr>
          <p:cNvPr id="75" name="Google Shape;75;p14"/>
          <p:cNvGrpSpPr/>
          <p:nvPr/>
        </p:nvGrpSpPr>
        <p:grpSpPr>
          <a:xfrm>
            <a:off x="419100" y="800100"/>
            <a:ext cx="381000" cy="381000"/>
            <a:chOff x="38100" y="38100"/>
            <a:chExt cx="381000" cy="381000"/>
          </a:xfrm>
        </p:grpSpPr>
        <p:sp>
          <p:nvSpPr>
            <p:cNvPr id="76" name="Google Shape;76;p14"/>
            <p:cNvSpPr/>
            <p:nvPr/>
          </p:nvSpPr>
          <p:spPr>
            <a:xfrm>
              <a:off x="38100" y="38100"/>
              <a:ext cx="381000" cy="381000"/>
            </a:xfrm>
            <a:prstGeom prst="ellipse">
              <a:avLst/>
            </a:prstGeom>
            <a:solidFill>
              <a:srgbClr val="000000">
                <a:alpha val="0"/>
              </a:srgbClr>
            </a:solidFill>
            <a:ln cap="flat"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4"/>
            <p:cNvSpPr/>
            <p:nvPr/>
          </p:nvSpPr>
          <p:spPr>
            <a:xfrm>
              <a:off x="190500" y="19050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4"/>
            <p:cNvSpPr/>
            <p:nvPr/>
          </p:nvSpPr>
          <p:spPr>
            <a:xfrm>
              <a:off x="38100" y="38100"/>
              <a:ext cx="381000" cy="381000"/>
            </a:xfrm>
            <a:custGeom>
              <a:rect b="b" l="l" r="r" t="t"/>
              <a:pathLst>
                <a:path extrusionOk="0" fill="none" h="120000" w="120000">
                  <a:moveTo>
                    <a:pt x="60000" y="0"/>
                  </a:moveTo>
                  <a:lnTo>
                    <a:pt x="60000" y="36000"/>
                  </a:lnTo>
                  <a:moveTo>
                    <a:pt x="60000" y="84000"/>
                  </a:moveTo>
                  <a:lnTo>
                    <a:pt x="60000" y="120000"/>
                  </a:lnTo>
                  <a:moveTo>
                    <a:pt x="0" y="60000"/>
                  </a:moveTo>
                  <a:lnTo>
                    <a:pt x="36000" y="60000"/>
                  </a:lnTo>
                  <a:moveTo>
                    <a:pt x="84000" y="60000"/>
                  </a:moveTo>
                  <a:lnTo>
                    <a:pt x="120000" y="60000"/>
                  </a:lnTo>
                </a:path>
              </a:pathLst>
            </a:custGeom>
            <a:solidFill>
              <a:srgbClr val="FFFFFF"/>
            </a:solidFill>
            <a:ln cap="flat" cmpd="sng" w="1430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4"/>
            <p:cNvSpPr/>
            <p:nvPr/>
          </p:nvSpPr>
          <p:spPr>
            <a:xfrm>
              <a:off x="95250" y="95250"/>
              <a:ext cx="266700" cy="266700"/>
            </a:xfrm>
            <a:custGeom>
              <a:rect b="b" l="l" r="r" t="t"/>
              <a:pathLst>
                <a:path extrusionOk="0" fill="none" h="120000" w="120000">
                  <a:moveTo>
                    <a:pt x="0" y="0"/>
                  </a:moveTo>
                  <a:lnTo>
                    <a:pt x="34286" y="34286"/>
                  </a:lnTo>
                  <a:moveTo>
                    <a:pt x="120000" y="120000"/>
                  </a:moveTo>
                  <a:lnTo>
                    <a:pt x="85714" y="85714"/>
                  </a:lnTo>
                  <a:moveTo>
                    <a:pt x="120000" y="0"/>
                  </a:moveTo>
                  <a:lnTo>
                    <a:pt x="85714" y="34286"/>
                  </a:lnTo>
                  <a:moveTo>
                    <a:pt x="0" y="120000"/>
                  </a:moveTo>
                  <a:lnTo>
                    <a:pt x="34286" y="85714"/>
                  </a:lnTo>
                </a:path>
              </a:pathLst>
            </a:custGeom>
            <a:solidFill>
              <a:srgbClr val="FFFFFF"/>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0" name="Google Shape;80;p14"/>
          <p:cNvSpPr txBox="1"/>
          <p:nvPr/>
        </p:nvSpPr>
        <p:spPr>
          <a:xfrm>
            <a:off x="381000" y="1524000"/>
            <a:ext cx="80010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06B6D4"/>
                </a:solidFill>
                <a:latin typeface="Space Mono"/>
                <a:ea typeface="Space Mono"/>
                <a:cs typeface="Space Mono"/>
                <a:sym typeface="Space Mono"/>
              </a:rPr>
              <a:t>Operational Briefing for Regional Local Government Areas (LGAs) &amp; Sovereign Credit Unions</a:t>
            </a:r>
            <a:endParaRPr b="0" sz="1200">
              <a:solidFill>
                <a:srgbClr val="06B6D4"/>
              </a:solidFill>
              <a:latin typeface="Space Mono"/>
              <a:ea typeface="Space Mono"/>
              <a:cs typeface="Space Mono"/>
              <a:sym typeface="Space Mono"/>
            </a:endParaRPr>
          </a:p>
          <a:p>
            <a:pPr indent="0" lvl="0" marL="0" rtl="0" algn="l">
              <a:spcBef>
                <a:spcPts val="600"/>
              </a:spcBef>
              <a:spcAft>
                <a:spcPts val="0"/>
              </a:spcAft>
              <a:buNone/>
            </a:pPr>
            <a:r>
              <a:rPr b="1" lang="en" sz="3150">
                <a:solidFill>
                  <a:srgbClr val="F0F4F8"/>
                </a:solidFill>
                <a:latin typeface="Inter"/>
                <a:ea typeface="Inter"/>
                <a:cs typeface="Inter"/>
                <a:sym typeface="Inter"/>
              </a:rPr>
              <a:t>Municipal Sovereign Credit &amp; Regional Buffer Resilience</a:t>
            </a:r>
            <a:endParaRPr b="1" sz="3150">
              <a:solidFill>
                <a:srgbClr val="F0F4F8"/>
              </a:solidFill>
              <a:latin typeface="Inter"/>
              <a:ea typeface="Inter"/>
              <a:cs typeface="Inter"/>
              <a:sym typeface="Inter"/>
            </a:endParaRPr>
          </a:p>
        </p:txBody>
      </p:sp>
      <p:sp>
        <p:nvSpPr>
          <p:cNvPr id="81" name="Google Shape;81;p14"/>
          <p:cNvSpPr txBox="1"/>
          <p:nvPr/>
        </p:nvSpPr>
        <p:spPr>
          <a:xfrm>
            <a:off x="381000" y="3619500"/>
            <a:ext cx="7620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050">
                <a:solidFill>
                  <a:srgbClr val="94A3B8"/>
                </a:solidFill>
                <a:latin typeface="Inter"/>
                <a:ea typeface="Inter"/>
                <a:cs typeface="Inter"/>
                <a:sym typeface="Inter"/>
              </a:rPr>
              <a:t>This executive briefing document outlines the strategic implementation framework for municipal sovereign credit and regional buffer resilience. Developed by the Alethekanon Research Institute, this presentation serves as a comprehensive operational guide for regional councils seeking to establish structural economic defenses. The frameworks detailed herein are specifically designed to address systemic vulnerabilities in rural economies through the deployment of non-distributive mutual banking, strategic physical reserves, and cryptographic telemetry networks.</a:t>
            </a:r>
            <a:endParaRPr b="0" sz="1050">
              <a:solidFill>
                <a:srgbClr val="94A3B8"/>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grpSp>
        <p:nvGrpSpPr>
          <p:cNvPr id="86" name="Google Shape;86;p15"/>
          <p:cNvGrpSpPr/>
          <p:nvPr/>
        </p:nvGrpSpPr>
        <p:grpSpPr>
          <a:xfrm>
            <a:off x="0" y="0"/>
            <a:ext cx="9144000" cy="5143500"/>
            <a:chOff x="0" y="0"/>
            <a:chExt cx="9144000" cy="5143500"/>
          </a:xfrm>
        </p:grpSpPr>
        <p:sp>
          <p:nvSpPr>
            <p:cNvPr id="87" name="Google Shape;87;p15"/>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5"/>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5"/>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90" name="Google Shape;90;p15"/>
          <p:cNvGrpSpPr/>
          <p:nvPr/>
        </p:nvGrpSpPr>
        <p:grpSpPr>
          <a:xfrm>
            <a:off x="381000" y="142875"/>
            <a:ext cx="8382000" cy="247575"/>
            <a:chOff x="381000" y="142875"/>
            <a:chExt cx="8382000" cy="247575"/>
          </a:xfrm>
        </p:grpSpPr>
        <p:sp>
          <p:nvSpPr>
            <p:cNvPr id="91" name="Google Shape;91;p15"/>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5"/>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5"/>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94" name="Google Shape;94;p15"/>
          <p:cNvGrpSpPr/>
          <p:nvPr/>
        </p:nvGrpSpPr>
        <p:grpSpPr>
          <a:xfrm>
            <a:off x="381000" y="4848225"/>
            <a:ext cx="8382000" cy="247650"/>
            <a:chOff x="381000" y="4848225"/>
            <a:chExt cx="8382000" cy="247650"/>
          </a:xfrm>
        </p:grpSpPr>
        <p:sp>
          <p:nvSpPr>
            <p:cNvPr id="95" name="Google Shape;95;p15"/>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2024-05-22 // SYS.VERIFIED</a:t>
              </a:r>
              <a:endParaRPr b="0" sz="750">
                <a:solidFill>
                  <a:srgbClr val="94A3B8"/>
                </a:solidFill>
                <a:latin typeface="Space Mono"/>
                <a:ea typeface="Space Mono"/>
                <a:cs typeface="Space Mono"/>
                <a:sym typeface="Space Mono"/>
              </a:endParaRPr>
            </a:p>
          </p:txBody>
        </p:sp>
      </p:grpSp>
      <p:sp>
        <p:nvSpPr>
          <p:cNvPr id="98" name="Google Shape;98;p15"/>
          <p:cNvSpPr txBox="1"/>
          <p:nvPr/>
        </p:nvSpPr>
        <p:spPr>
          <a:xfrm>
            <a:off x="381000" y="571500"/>
            <a:ext cx="8382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F0F4F8"/>
                </a:solidFill>
                <a:latin typeface="Inter"/>
                <a:ea typeface="Inter"/>
                <a:cs typeface="Inter"/>
                <a:sym typeface="Inter"/>
              </a:rPr>
              <a:t>Why Rural Economies Face Systemic Insolvency Under Orthodox Finance</a:t>
            </a:r>
            <a:endParaRPr b="1" sz="1800">
              <a:solidFill>
                <a:srgbClr val="F0F4F8"/>
              </a:solidFill>
              <a:latin typeface="Inter"/>
              <a:ea typeface="Inter"/>
              <a:cs typeface="Inter"/>
              <a:sym typeface="Inter"/>
            </a:endParaRPr>
          </a:p>
        </p:txBody>
      </p:sp>
      <p:grpSp>
        <p:nvGrpSpPr>
          <p:cNvPr id="99" name="Google Shape;99;p15"/>
          <p:cNvGrpSpPr/>
          <p:nvPr/>
        </p:nvGrpSpPr>
        <p:grpSpPr>
          <a:xfrm>
            <a:off x="381000" y="1047750"/>
            <a:ext cx="8382000" cy="762000"/>
            <a:chOff x="0" y="0"/>
            <a:chExt cx="8382000" cy="762000"/>
          </a:xfrm>
        </p:grpSpPr>
        <p:sp>
          <p:nvSpPr>
            <p:cNvPr id="100" name="Google Shape;100;p15"/>
            <p:cNvSpPr/>
            <p:nvPr/>
          </p:nvSpPr>
          <p:spPr>
            <a:xfrm>
              <a:off x="0" y="0"/>
              <a:ext cx="8382000" cy="762000"/>
            </a:xfrm>
            <a:prstGeom prst="rect">
              <a:avLst/>
            </a:prstGeom>
            <a:solidFill>
              <a:srgbClr val="1E130B"/>
            </a:solidFill>
            <a:ln cap="flat" cmpd="sng" w="9525">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p:nvPr/>
          </p:nvSpPr>
          <p:spPr>
            <a:xfrm>
              <a:off x="0" y="0"/>
              <a:ext cx="76200" cy="7620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5"/>
            <p:cNvSpPr txBox="1"/>
            <p:nvPr/>
          </p:nvSpPr>
          <p:spPr>
            <a:xfrm>
              <a:off x="228600" y="152400"/>
              <a:ext cx="80010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765">
                  <a:solidFill>
                    <a:srgbClr val="F59E0B"/>
                  </a:solidFill>
                  <a:latin typeface="Space Mono"/>
                  <a:ea typeface="Space Mono"/>
                  <a:cs typeface="Space Mono"/>
                  <a:sym typeface="Space Mono"/>
                </a:rPr>
                <a:t>CRITICAL SYSTEMIC VULNERABILITY</a:t>
              </a:r>
              <a:endParaRPr b="1" sz="765">
                <a:solidFill>
                  <a:srgbClr val="F59E0B"/>
                </a:solidFill>
                <a:latin typeface="Space Mono"/>
                <a:ea typeface="Space Mono"/>
                <a:cs typeface="Space Mono"/>
                <a:sym typeface="Space Mono"/>
              </a:endParaRPr>
            </a:p>
            <a:p>
              <a:pPr indent="0" lvl="0" marL="0" rtl="0" algn="l">
                <a:spcBef>
                  <a:spcPts val="300"/>
                </a:spcBef>
                <a:spcAft>
                  <a:spcPts val="0"/>
                </a:spcAft>
                <a:buNone/>
              </a:pPr>
              <a:r>
                <a:rPr b="0" lang="en" sz="893">
                  <a:solidFill>
                    <a:srgbClr val="F0F4F8"/>
                  </a:solidFill>
                  <a:latin typeface="Inter"/>
                  <a:ea typeface="Inter"/>
                  <a:cs typeface="Inter"/>
                  <a:sym typeface="Inter"/>
                </a:rPr>
                <a:t>Rural shires and agricultural producers are currently subjected to severe structural vulnerabilities driven by orthodox financial mechanics and concentrated retail markets.</a:t>
              </a:r>
              <a:endParaRPr b="0" sz="893">
                <a:solidFill>
                  <a:srgbClr val="F0F4F8"/>
                </a:solidFill>
                <a:latin typeface="Inter"/>
                <a:ea typeface="Inter"/>
                <a:cs typeface="Inter"/>
                <a:sym typeface="Inter"/>
              </a:endParaRPr>
            </a:p>
          </p:txBody>
        </p:sp>
      </p:grpSp>
      <p:sp>
        <p:nvSpPr>
          <p:cNvPr id="103" name="Google Shape;103;p15"/>
          <p:cNvSpPr txBox="1"/>
          <p:nvPr/>
        </p:nvSpPr>
        <p:spPr>
          <a:xfrm>
            <a:off x="381000" y="2000250"/>
            <a:ext cx="40005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0F4F8"/>
                </a:solidFill>
                <a:latin typeface="Inter"/>
                <a:ea typeface="Inter"/>
                <a:cs typeface="Inter"/>
                <a:sym typeface="Inter"/>
              </a:rPr>
              <a:t>Upstream Working Capital Inflation:</a:t>
            </a:r>
            <a:r>
              <a:rPr b="0" lang="en" sz="1050">
                <a:solidFill>
                  <a:srgbClr val="94A3B8"/>
                </a:solidFill>
                <a:latin typeface="Inter"/>
                <a:ea typeface="Inter"/>
                <a:cs typeface="Inter"/>
                <a:sym typeface="Inter"/>
              </a:rPr>
              <a:t> Recent central bank monetary tightening has resulted in aggressive interest rate hikes totaling +425 basis points (bps). This directly inflates farm debt servicing obligations.</a:t>
            </a:r>
            <a:endParaRPr b="0" sz="1050">
              <a:solidFill>
                <a:srgbClr val="94A3B8"/>
              </a:solidFill>
              <a:latin typeface="Inter"/>
              <a:ea typeface="Inter"/>
              <a:cs typeface="Inter"/>
              <a:sym typeface="Inter"/>
            </a:endParaRPr>
          </a:p>
          <a:p>
            <a:pPr indent="0" lvl="0" marL="0" rtl="0" algn="l">
              <a:spcBef>
                <a:spcPts val="900"/>
              </a:spcBef>
              <a:spcAft>
                <a:spcPts val="0"/>
              </a:spcAft>
              <a:buNone/>
            </a:pPr>
            <a:r>
              <a:rPr b="1" lang="en" sz="1050">
                <a:solidFill>
                  <a:srgbClr val="F0F4F8"/>
                </a:solidFill>
                <a:latin typeface="Inter"/>
                <a:ea typeface="Inter"/>
                <a:cs typeface="Inter"/>
                <a:sym typeface="Inter"/>
              </a:rPr>
              <a:t>Supermarket Duopoly Gatekeeping:</a:t>
            </a:r>
            <a:r>
              <a:rPr b="0" lang="en" sz="1050">
                <a:solidFill>
                  <a:srgbClr val="94A3B8"/>
                </a:solidFill>
                <a:latin typeface="Inter"/>
                <a:ea typeface="Inter"/>
                <a:cs typeface="Inter"/>
                <a:sym typeface="Inter"/>
              </a:rPr>
              <a:t> Analysis of a standard $5.00 loaf of bread reveals that the primary producer (farmer) receives only $0.55 (11%), while retail duopolies capture $2.50 (50%).</a:t>
            </a:r>
            <a:endParaRPr b="0" sz="1050">
              <a:solidFill>
                <a:srgbClr val="94A3B8"/>
              </a:solidFill>
              <a:latin typeface="Inter"/>
              <a:ea typeface="Inter"/>
              <a:cs typeface="Inter"/>
              <a:sym typeface="Inter"/>
            </a:endParaRPr>
          </a:p>
          <a:p>
            <a:pPr indent="-317500" lvl="0" marL="457200" rtl="0" algn="l">
              <a:spcBef>
                <a:spcPts val="900"/>
              </a:spcBef>
              <a:spcAft>
                <a:spcPts val="1200"/>
              </a:spcAft>
              <a:buClr>
                <a:srgbClr val="06B6D4"/>
              </a:buClr>
              <a:buSzPts val="1400"/>
              <a:buChar char="●"/>
            </a:pPr>
            <a:r>
              <a:rPr b="1" lang="en" sz="1050">
                <a:solidFill>
                  <a:srgbClr val="F0F4F8"/>
                </a:solidFill>
                <a:latin typeface="Inter"/>
                <a:ea typeface="Inter"/>
                <a:cs typeface="Inter"/>
                <a:sym typeface="Inter"/>
              </a:rPr>
              <a:t>Compound Debt Traps:</a:t>
            </a:r>
            <a:r>
              <a:rPr b="0" lang="en" sz="1050">
                <a:solidFill>
                  <a:srgbClr val="94A3B8"/>
                </a:solidFill>
                <a:latin typeface="Inter"/>
                <a:ea typeface="Inter"/>
                <a:cs typeface="Inter"/>
                <a:sym typeface="Inter"/>
              </a:rPr>
              <a:t> Commercial banking facilities continue to compound interest relentlessly, even during periods of severe environmental stress like prolonged droughts, driving generational agricultural land foreclosure.</a:t>
            </a:r>
            <a:endParaRPr b="0" sz="1050">
              <a:solidFill>
                <a:srgbClr val="94A3B8"/>
              </a:solidFill>
              <a:latin typeface="Inter"/>
              <a:ea typeface="Inter"/>
              <a:cs typeface="Inter"/>
              <a:sym typeface="Inter"/>
            </a:endParaRPr>
          </a:p>
        </p:txBody>
      </p:sp>
      <p:grpSp>
        <p:nvGrpSpPr>
          <p:cNvPr id="104" name="Google Shape;104;p15"/>
          <p:cNvGrpSpPr/>
          <p:nvPr/>
        </p:nvGrpSpPr>
        <p:grpSpPr>
          <a:xfrm>
            <a:off x="4757738" y="1995488"/>
            <a:ext cx="4010100" cy="1438200"/>
            <a:chOff x="-4762" y="-4762"/>
            <a:chExt cx="4010100" cy="1438200"/>
          </a:xfrm>
        </p:grpSpPr>
        <p:pic>
          <p:nvPicPr>
            <p:cNvPr id="105" name="Google Shape;105;p15"/>
            <p:cNvPicPr preferRelativeResize="0"/>
            <p:nvPr/>
          </p:nvPicPr>
          <p:blipFill rotWithShape="1">
            <a:blip r:embed="rId3">
              <a:alphaModFix/>
            </a:blip>
            <a:srcRect b="0" l="0" r="0" t="0"/>
            <a:stretch/>
          </p:blipFill>
          <p:spPr>
            <a:xfrm>
              <a:off x="-4762" y="-4762"/>
              <a:ext cx="4010100" cy="1438200"/>
            </a:xfrm>
            <a:prstGeom prst="rect">
              <a:avLst/>
            </a:prstGeom>
            <a:noFill/>
            <a:ln>
              <a:noFill/>
            </a:ln>
          </p:spPr>
        </p:pic>
        <p:sp>
          <p:nvSpPr>
            <p:cNvPr id="106" name="Google Shape;106;p15"/>
            <p:cNvSpPr/>
            <p:nvPr/>
          </p:nvSpPr>
          <p:spPr>
            <a:xfrm>
              <a:off x="0" y="0"/>
              <a:ext cx="4000500" cy="2859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5"/>
            <p:cNvSpPr txBox="1"/>
            <p:nvPr/>
          </p:nvSpPr>
          <p:spPr>
            <a:xfrm>
              <a:off x="152400" y="57150"/>
              <a:ext cx="3695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0F4F8"/>
                  </a:solidFill>
                  <a:latin typeface="Space Mono"/>
                  <a:ea typeface="Space Mono"/>
                  <a:cs typeface="Space Mono"/>
                  <a:sym typeface="Space Mono"/>
                </a:rPr>
                <a:t>STATUTORY DISTORTION ANALYSIS</a:t>
              </a:r>
              <a:endParaRPr b="1" sz="900">
                <a:solidFill>
                  <a:srgbClr val="F0F4F8"/>
                </a:solidFill>
                <a:latin typeface="Space Mono"/>
                <a:ea typeface="Space Mono"/>
                <a:cs typeface="Space Mono"/>
                <a:sym typeface="Space Mono"/>
              </a:endParaRPr>
            </a:p>
          </p:txBody>
        </p:sp>
        <p:sp>
          <p:nvSpPr>
            <p:cNvPr id="108" name="Google Shape;108;p15"/>
            <p:cNvSpPr txBox="1"/>
            <p:nvPr/>
          </p:nvSpPr>
          <p:spPr>
            <a:xfrm>
              <a:off x="152400" y="438150"/>
              <a:ext cx="3695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59E0B"/>
                  </a:solidFill>
                  <a:latin typeface="Inter"/>
                  <a:ea typeface="Inter"/>
                  <a:cs typeface="Inter"/>
                  <a:sym typeface="Inter"/>
                </a:rPr>
                <a:t>DISTORTION QUOTIENT (DQ): 10.66</a:t>
              </a:r>
              <a:endParaRPr b="1" sz="1050">
                <a:solidFill>
                  <a:srgbClr val="F59E0B"/>
                </a:solidFill>
                <a:latin typeface="Inter"/>
                <a:ea typeface="Inter"/>
                <a:cs typeface="Inter"/>
                <a:sym typeface="Inter"/>
              </a:endParaRPr>
            </a:p>
            <a:p>
              <a:pPr indent="0" lvl="0" marL="0" rtl="0" algn="l">
                <a:spcBef>
                  <a:spcPts val="600"/>
                </a:spcBef>
                <a:spcAft>
                  <a:spcPts val="0"/>
                </a:spcAft>
                <a:buNone/>
              </a:pPr>
              <a:r>
                <a:rPr b="0" lang="en" sz="1050">
                  <a:solidFill>
                    <a:srgbClr val="94A3B8"/>
                  </a:solidFill>
                  <a:latin typeface="Inter"/>
                  <a:ea typeface="Inter"/>
                  <a:cs typeface="Inter"/>
                  <a:sym typeface="Inter"/>
                </a:rPr>
                <a:t>Statutory distortion found in the Distortion Quotient (DQ) of 10.66, indicating severe misalignment between financial mechanics and primary production realities.</a:t>
              </a:r>
              <a:endParaRPr b="0" sz="1050">
                <a:solidFill>
                  <a:srgbClr val="94A3B8"/>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grpSp>
        <p:nvGrpSpPr>
          <p:cNvPr id="113" name="Google Shape;113;p16"/>
          <p:cNvGrpSpPr/>
          <p:nvPr/>
        </p:nvGrpSpPr>
        <p:grpSpPr>
          <a:xfrm>
            <a:off x="0" y="0"/>
            <a:ext cx="9144000" cy="5143500"/>
            <a:chOff x="0" y="0"/>
            <a:chExt cx="9144000" cy="5143500"/>
          </a:xfrm>
        </p:grpSpPr>
        <p:sp>
          <p:nvSpPr>
            <p:cNvPr id="114" name="Google Shape;114;p16"/>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6"/>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6"/>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7" name="Google Shape;117;p16"/>
          <p:cNvGrpSpPr/>
          <p:nvPr/>
        </p:nvGrpSpPr>
        <p:grpSpPr>
          <a:xfrm>
            <a:off x="381000" y="142875"/>
            <a:ext cx="8382000" cy="247575"/>
            <a:chOff x="381000" y="142875"/>
            <a:chExt cx="8382000" cy="247575"/>
          </a:xfrm>
        </p:grpSpPr>
        <p:sp>
          <p:nvSpPr>
            <p:cNvPr id="118" name="Google Shape;118;p16"/>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121" name="Google Shape;121;p16"/>
          <p:cNvGrpSpPr/>
          <p:nvPr/>
        </p:nvGrpSpPr>
        <p:grpSpPr>
          <a:xfrm>
            <a:off x="381000" y="4848225"/>
            <a:ext cx="8382000" cy="247650"/>
            <a:chOff x="381000" y="4848225"/>
            <a:chExt cx="8382000" cy="247650"/>
          </a:xfrm>
        </p:grpSpPr>
        <p:sp>
          <p:nvSpPr>
            <p:cNvPr id="122" name="Google Shape;122;p16"/>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6"/>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2026.04.12 // SYS.VERIFIED</a:t>
              </a:r>
              <a:endParaRPr b="0" sz="750">
                <a:solidFill>
                  <a:srgbClr val="94A3B8"/>
                </a:solidFill>
                <a:latin typeface="Space Mono"/>
                <a:ea typeface="Space Mono"/>
                <a:cs typeface="Space Mono"/>
                <a:sym typeface="Space Mono"/>
              </a:endParaRPr>
            </a:p>
          </p:txBody>
        </p:sp>
      </p:grpSp>
      <p:sp>
        <p:nvSpPr>
          <p:cNvPr id="125" name="Google Shape;125;p16"/>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85">
                <a:solidFill>
                  <a:srgbClr val="F0F4F8"/>
                </a:solidFill>
                <a:latin typeface="Inter"/>
                <a:ea typeface="Inter"/>
                <a:cs typeface="Inter"/>
                <a:sym typeface="Inter"/>
              </a:rPr>
              <a:t>Decoupling Community Survival from Commercial Debt Compounding</a:t>
            </a:r>
            <a:endParaRPr b="1" sz="1785">
              <a:solidFill>
                <a:srgbClr val="F0F4F8"/>
              </a:solidFill>
              <a:latin typeface="Inter"/>
              <a:ea typeface="Inter"/>
              <a:cs typeface="Inter"/>
              <a:sym typeface="Inter"/>
            </a:endParaRPr>
          </a:p>
        </p:txBody>
      </p:sp>
      <p:grpSp>
        <p:nvGrpSpPr>
          <p:cNvPr id="126" name="Google Shape;126;p16"/>
          <p:cNvGrpSpPr/>
          <p:nvPr/>
        </p:nvGrpSpPr>
        <p:grpSpPr>
          <a:xfrm>
            <a:off x="381000" y="1333500"/>
            <a:ext cx="2600400" cy="3048000"/>
            <a:chOff x="0" y="0"/>
            <a:chExt cx="2600400" cy="3048000"/>
          </a:xfrm>
        </p:grpSpPr>
        <p:sp>
          <p:nvSpPr>
            <p:cNvPr id="127" name="Google Shape;127;p16"/>
            <p:cNvSpPr/>
            <p:nvPr/>
          </p:nvSpPr>
          <p:spPr>
            <a:xfrm>
              <a:off x="0" y="0"/>
              <a:ext cx="2600400" cy="3048000"/>
            </a:xfrm>
            <a:prstGeom prst="rect">
              <a:avLst/>
            </a:prstGeom>
            <a:solidFill>
              <a:srgbClr val="121D28"/>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6"/>
            <p:cNvSpPr/>
            <p:nvPr/>
          </p:nvSpPr>
          <p:spPr>
            <a:xfrm>
              <a:off x="0" y="0"/>
              <a:ext cx="2600400" cy="381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6"/>
            <p:cNvSpPr/>
            <p:nvPr/>
          </p:nvSpPr>
          <p:spPr>
            <a:xfrm>
              <a:off x="190500" y="266700"/>
              <a:ext cx="228600" cy="228600"/>
            </a:xfrm>
            <a:prstGeom prst="ellipse">
              <a:avLst/>
            </a:prstGeom>
            <a:solidFill>
              <a:srgbClr val="000000">
                <a:alpha val="0"/>
              </a:srgbClr>
            </a:solidFill>
            <a:ln cap="flat"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257175" y="304800"/>
              <a:ext cx="95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6B6D4"/>
                  </a:solidFill>
                  <a:latin typeface="Space Mono"/>
                  <a:ea typeface="Space Mono"/>
                  <a:cs typeface="Space Mono"/>
                  <a:sym typeface="Space Mono"/>
                </a:rPr>
                <a:t>1</a:t>
              </a:r>
              <a:endParaRPr b="1" sz="1050">
                <a:solidFill>
                  <a:srgbClr val="06B6D4"/>
                </a:solidFill>
                <a:latin typeface="Space Mono"/>
                <a:ea typeface="Space Mono"/>
                <a:cs typeface="Space Mono"/>
                <a:sym typeface="Space Mono"/>
              </a:endParaRPr>
            </a:p>
          </p:txBody>
        </p:sp>
        <p:sp>
          <p:nvSpPr>
            <p:cNvPr id="131" name="Google Shape;131;p16"/>
            <p:cNvSpPr txBox="1"/>
            <p:nvPr/>
          </p:nvSpPr>
          <p:spPr>
            <a:xfrm>
              <a:off x="228600" y="666750"/>
              <a:ext cx="21432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0F4F8"/>
                  </a:solidFill>
                  <a:latin typeface="Inter"/>
                  <a:ea typeface="Inter"/>
                  <a:cs typeface="Inter"/>
                  <a:sym typeface="Inter"/>
                </a:rPr>
                <a:t>BOOK 1 (SOVEREIGN MUTUAL CREDIT UNION)</a:t>
              </a:r>
              <a:endParaRPr b="1" sz="1050">
                <a:solidFill>
                  <a:srgbClr val="F0F4F8"/>
                </a:solidFill>
                <a:latin typeface="Inter"/>
                <a:ea typeface="Inter"/>
                <a:cs typeface="Inter"/>
                <a:sym typeface="Inter"/>
              </a:endParaRPr>
            </a:p>
            <a:p>
              <a:pPr indent="0" lvl="0" marL="0" rtl="0" algn="l">
                <a:spcBef>
                  <a:spcPts val="1200"/>
                </a:spcBef>
                <a:spcAft>
                  <a:spcPts val="900"/>
                </a:spcAft>
                <a:buNone/>
              </a:pPr>
              <a:r>
                <a:rPr b="0" lang="en" sz="1050">
                  <a:solidFill>
                    <a:srgbClr val="94A3B8"/>
                  </a:solidFill>
                  <a:latin typeface="Inter"/>
                  <a:ea typeface="Inter"/>
                  <a:cs typeface="Inter"/>
                  <a:sym typeface="Inter"/>
                </a:rPr>
                <a:t>Non-distributive mutual banking entity engineered to provide specific credit facilities that strictly enforce a 0.0% compound interest rate. All capital facilities utilize linear principal amortization to ensure predictable debt repayment.</a:t>
              </a:r>
              <a:endParaRPr b="0" sz="1050">
                <a:solidFill>
                  <a:srgbClr val="94A3B8"/>
                </a:solidFill>
                <a:latin typeface="Inter"/>
                <a:ea typeface="Inter"/>
                <a:cs typeface="Inter"/>
                <a:sym typeface="Inter"/>
              </a:endParaRPr>
            </a:p>
          </p:txBody>
        </p:sp>
      </p:grpSp>
      <p:grpSp>
        <p:nvGrpSpPr>
          <p:cNvPr id="132" name="Google Shape;132;p16"/>
          <p:cNvGrpSpPr/>
          <p:nvPr/>
        </p:nvGrpSpPr>
        <p:grpSpPr>
          <a:xfrm>
            <a:off x="3267075" y="1333500"/>
            <a:ext cx="2600400" cy="3048000"/>
            <a:chOff x="0" y="0"/>
            <a:chExt cx="2600400" cy="3048000"/>
          </a:xfrm>
        </p:grpSpPr>
        <p:sp>
          <p:nvSpPr>
            <p:cNvPr id="133" name="Google Shape;133;p16"/>
            <p:cNvSpPr/>
            <p:nvPr/>
          </p:nvSpPr>
          <p:spPr>
            <a:xfrm>
              <a:off x="0" y="0"/>
              <a:ext cx="2600400" cy="3048000"/>
            </a:xfrm>
            <a:prstGeom prst="rect">
              <a:avLst/>
            </a:prstGeom>
            <a:solidFill>
              <a:srgbClr val="121D28"/>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6"/>
            <p:cNvSpPr/>
            <p:nvPr/>
          </p:nvSpPr>
          <p:spPr>
            <a:xfrm>
              <a:off x="0" y="0"/>
              <a:ext cx="2600400" cy="381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6"/>
            <p:cNvSpPr/>
            <p:nvPr/>
          </p:nvSpPr>
          <p:spPr>
            <a:xfrm>
              <a:off x="190500" y="266700"/>
              <a:ext cx="228600" cy="228600"/>
            </a:xfrm>
            <a:prstGeom prst="ellipse">
              <a:avLst/>
            </a:prstGeom>
            <a:solidFill>
              <a:srgbClr val="000000">
                <a:alpha val="0"/>
              </a:srgbClr>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257175" y="304800"/>
              <a:ext cx="95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F59E0B"/>
                  </a:solidFill>
                  <a:latin typeface="Space Mono"/>
                  <a:ea typeface="Space Mono"/>
                  <a:cs typeface="Space Mono"/>
                  <a:sym typeface="Space Mono"/>
                </a:rPr>
                <a:t>2</a:t>
              </a:r>
              <a:endParaRPr b="1" sz="1050">
                <a:solidFill>
                  <a:srgbClr val="F59E0B"/>
                </a:solidFill>
                <a:latin typeface="Space Mono"/>
                <a:ea typeface="Space Mono"/>
                <a:cs typeface="Space Mono"/>
                <a:sym typeface="Space Mono"/>
              </a:endParaRPr>
            </a:p>
          </p:txBody>
        </p:sp>
        <p:sp>
          <p:nvSpPr>
            <p:cNvPr id="137" name="Google Shape;137;p16"/>
            <p:cNvSpPr txBox="1"/>
            <p:nvPr/>
          </p:nvSpPr>
          <p:spPr>
            <a:xfrm>
              <a:off x="228600" y="666750"/>
              <a:ext cx="21432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0F4F8"/>
                  </a:solidFill>
                  <a:latin typeface="Inter"/>
                  <a:ea typeface="Inter"/>
                  <a:cs typeface="Inter"/>
                  <a:sym typeface="Inter"/>
                </a:rPr>
                <a:t>BOOK 2 (STRATEGIC PHYSICAL RESERVES)</a:t>
              </a:r>
              <a:endParaRPr b="1" sz="1050">
                <a:solidFill>
                  <a:srgbClr val="F0F4F8"/>
                </a:solidFill>
                <a:latin typeface="Inter"/>
                <a:ea typeface="Inter"/>
                <a:cs typeface="Inter"/>
                <a:sym typeface="Inter"/>
              </a:endParaRPr>
            </a:p>
            <a:p>
              <a:pPr indent="0" lvl="0" marL="0" rtl="0" algn="l">
                <a:spcBef>
                  <a:spcPts val="1200"/>
                </a:spcBef>
                <a:spcAft>
                  <a:spcPts val="900"/>
                </a:spcAft>
                <a:buNone/>
              </a:pPr>
              <a:r>
                <a:rPr b="0" lang="en" sz="1050">
                  <a:solidFill>
                    <a:srgbClr val="94A3B8"/>
                  </a:solidFill>
                  <a:latin typeface="Inter"/>
                  <a:ea typeface="Inter"/>
                  <a:cs typeface="Inter"/>
                  <a:sym typeface="Inter"/>
                </a:rPr>
                <a:t>Mandated establishment of Shire-owned strategic physical reserves, including grain silos, microgrid battery storage (BESS), and potable water reservoirs. Includes automated disaster pauses to insulate resources from market fluctuations.</a:t>
              </a:r>
              <a:endParaRPr b="0" sz="1050">
                <a:solidFill>
                  <a:srgbClr val="94A3B8"/>
                </a:solidFill>
                <a:latin typeface="Inter"/>
                <a:ea typeface="Inter"/>
                <a:cs typeface="Inter"/>
                <a:sym typeface="Inter"/>
              </a:endParaRPr>
            </a:p>
          </p:txBody>
        </p:sp>
      </p:grpSp>
      <p:grpSp>
        <p:nvGrpSpPr>
          <p:cNvPr id="138" name="Google Shape;138;p16"/>
          <p:cNvGrpSpPr/>
          <p:nvPr/>
        </p:nvGrpSpPr>
        <p:grpSpPr>
          <a:xfrm>
            <a:off x="6162675" y="1333500"/>
            <a:ext cx="2600400" cy="3048000"/>
            <a:chOff x="0" y="0"/>
            <a:chExt cx="2600400" cy="3048000"/>
          </a:xfrm>
        </p:grpSpPr>
        <p:sp>
          <p:nvSpPr>
            <p:cNvPr id="139" name="Google Shape;139;p16"/>
            <p:cNvSpPr/>
            <p:nvPr/>
          </p:nvSpPr>
          <p:spPr>
            <a:xfrm>
              <a:off x="0" y="0"/>
              <a:ext cx="2600400" cy="3048000"/>
            </a:xfrm>
            <a:prstGeom prst="rect">
              <a:avLst/>
            </a:prstGeom>
            <a:solidFill>
              <a:srgbClr val="121D28"/>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6"/>
            <p:cNvSpPr/>
            <p:nvPr/>
          </p:nvSpPr>
          <p:spPr>
            <a:xfrm>
              <a:off x="0" y="0"/>
              <a:ext cx="2600400" cy="381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6"/>
            <p:cNvSpPr/>
            <p:nvPr/>
          </p:nvSpPr>
          <p:spPr>
            <a:xfrm>
              <a:off x="190500" y="266700"/>
              <a:ext cx="228600" cy="228600"/>
            </a:xfrm>
            <a:prstGeom prst="ellipse">
              <a:avLst/>
            </a:prstGeom>
            <a:solidFill>
              <a:srgbClr val="000000">
                <a:alpha val="0"/>
              </a:srgbClr>
            </a:solidFill>
            <a:ln cap="flat"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257175" y="304800"/>
              <a:ext cx="95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6B6D4"/>
                  </a:solidFill>
                  <a:latin typeface="Space Mono"/>
                  <a:ea typeface="Space Mono"/>
                  <a:cs typeface="Space Mono"/>
                  <a:sym typeface="Space Mono"/>
                </a:rPr>
                <a:t>3</a:t>
              </a:r>
              <a:endParaRPr b="1" sz="1050">
                <a:solidFill>
                  <a:srgbClr val="06B6D4"/>
                </a:solidFill>
                <a:latin typeface="Space Mono"/>
                <a:ea typeface="Space Mono"/>
                <a:cs typeface="Space Mono"/>
                <a:sym typeface="Space Mono"/>
              </a:endParaRPr>
            </a:p>
          </p:txBody>
        </p:sp>
        <p:sp>
          <p:nvSpPr>
            <p:cNvPr id="143" name="Google Shape;143;p16"/>
            <p:cNvSpPr txBox="1"/>
            <p:nvPr/>
          </p:nvSpPr>
          <p:spPr>
            <a:xfrm>
              <a:off x="228600" y="666750"/>
              <a:ext cx="21432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0F4F8"/>
                  </a:solidFill>
                  <a:latin typeface="Inter"/>
                  <a:ea typeface="Inter"/>
                  <a:cs typeface="Inter"/>
                  <a:sym typeface="Inter"/>
                </a:rPr>
                <a:t>BOOK 3 (REALITY LEDGER &amp; TELEMETRY MESH)</a:t>
              </a:r>
              <a:endParaRPr b="1" sz="1050">
                <a:solidFill>
                  <a:srgbClr val="F0F4F8"/>
                </a:solidFill>
                <a:latin typeface="Inter"/>
                <a:ea typeface="Inter"/>
                <a:cs typeface="Inter"/>
                <a:sym typeface="Inter"/>
              </a:endParaRPr>
            </a:p>
            <a:p>
              <a:pPr indent="0" lvl="0" marL="0" rtl="0" algn="l">
                <a:spcBef>
                  <a:spcPts val="1200"/>
                </a:spcBef>
                <a:spcAft>
                  <a:spcPts val="900"/>
                </a:spcAft>
                <a:buNone/>
              </a:pPr>
              <a:r>
                <a:rPr b="0" lang="en" sz="1050">
                  <a:solidFill>
                    <a:srgbClr val="94A3B8"/>
                  </a:solidFill>
                  <a:latin typeface="Inter"/>
                  <a:ea typeface="Inter"/>
                  <a:cs typeface="Inter"/>
                  <a:sym typeface="Inter"/>
                </a:rPr>
                <a:t>NMI-certified sensor infrastructure providing trustless verification of physical assets. Feeds into the Inter-Sovereign Trade Tensor for automated, bilateral inter-shire clearing and transparent trade of physical surpluses.</a:t>
              </a:r>
              <a:endParaRPr b="0" sz="1050">
                <a:solidFill>
                  <a:srgbClr val="94A3B8"/>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grpSp>
        <p:nvGrpSpPr>
          <p:cNvPr id="148" name="Google Shape;148;p17"/>
          <p:cNvGrpSpPr/>
          <p:nvPr/>
        </p:nvGrpSpPr>
        <p:grpSpPr>
          <a:xfrm>
            <a:off x="0" y="0"/>
            <a:ext cx="9144000" cy="5143500"/>
            <a:chOff x="0" y="0"/>
            <a:chExt cx="9144000" cy="5143500"/>
          </a:xfrm>
        </p:grpSpPr>
        <p:sp>
          <p:nvSpPr>
            <p:cNvPr id="149" name="Google Shape;149;p17"/>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7"/>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7"/>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52" name="Google Shape;152;p17"/>
          <p:cNvGrpSpPr/>
          <p:nvPr/>
        </p:nvGrpSpPr>
        <p:grpSpPr>
          <a:xfrm>
            <a:off x="381000" y="142875"/>
            <a:ext cx="8382000" cy="247575"/>
            <a:chOff x="381000" y="142875"/>
            <a:chExt cx="8382000" cy="247575"/>
          </a:xfrm>
        </p:grpSpPr>
        <p:sp>
          <p:nvSpPr>
            <p:cNvPr id="153" name="Google Shape;153;p17"/>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7"/>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7"/>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sp>
        <p:nvSpPr>
          <p:cNvPr id="156" name="Google Shape;156;p17"/>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100">
                <a:solidFill>
                  <a:srgbClr val="F0F4F8"/>
                </a:solidFill>
                <a:latin typeface="Inter"/>
                <a:ea typeface="Inter"/>
                <a:cs typeface="Inter"/>
                <a:sym typeface="Inter"/>
              </a:rPr>
              <a:t>Robust Legal Anchoring in NSW and Commonwealth Statutes</a:t>
            </a:r>
            <a:endParaRPr b="1" sz="2100">
              <a:solidFill>
                <a:srgbClr val="F0F4F8"/>
              </a:solidFill>
              <a:latin typeface="Inter"/>
              <a:ea typeface="Inter"/>
              <a:cs typeface="Inter"/>
              <a:sym typeface="Inter"/>
            </a:endParaRPr>
          </a:p>
        </p:txBody>
      </p:sp>
      <p:grpSp>
        <p:nvGrpSpPr>
          <p:cNvPr id="157" name="Google Shape;157;p17"/>
          <p:cNvGrpSpPr/>
          <p:nvPr/>
        </p:nvGrpSpPr>
        <p:grpSpPr>
          <a:xfrm>
            <a:off x="381000" y="1333500"/>
            <a:ext cx="4000500" cy="2571750"/>
            <a:chOff x="0" y="0"/>
            <a:chExt cx="4000500" cy="2571750"/>
          </a:xfrm>
        </p:grpSpPr>
        <p:sp>
          <p:nvSpPr>
            <p:cNvPr id="158" name="Google Shape;158;p17"/>
            <p:cNvSpPr txBox="1"/>
            <p:nvPr/>
          </p:nvSpPr>
          <p:spPr>
            <a:xfrm>
              <a:off x="0" y="0"/>
              <a:ext cx="4000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050">
                  <a:solidFill>
                    <a:srgbClr val="94A3B8"/>
                  </a:solidFill>
                  <a:latin typeface="Inter"/>
                  <a:ea typeface="Inter"/>
                  <a:cs typeface="Inter"/>
                  <a:sym typeface="Inter"/>
                </a:rPr>
                <a:t>The implementation of Sovereign Mutual Credit Unions and regional buffer networks is fully supported by existing legislative frameworks. The architecture leverages established state and federal statutes to ensure robust legal anchoring, regulatory compliance, and protection for participating municipal councils.</a:t>
              </a:r>
              <a:endParaRPr b="0" sz="1050">
                <a:solidFill>
                  <a:srgbClr val="94A3B8"/>
                </a:solidFill>
                <a:latin typeface="Inter"/>
                <a:ea typeface="Inter"/>
                <a:cs typeface="Inter"/>
                <a:sym typeface="Inter"/>
              </a:endParaRPr>
            </a:p>
          </p:txBody>
        </p:sp>
        <p:grpSp>
          <p:nvGrpSpPr>
            <p:cNvPr id="159" name="Google Shape;159;p17"/>
            <p:cNvGrpSpPr/>
            <p:nvPr/>
          </p:nvGrpSpPr>
          <p:grpSpPr>
            <a:xfrm>
              <a:off x="0" y="1428750"/>
              <a:ext cx="4000500" cy="1143000"/>
              <a:chOff x="0" y="0"/>
              <a:chExt cx="4000500" cy="1143000"/>
            </a:xfrm>
          </p:grpSpPr>
          <p:grpSp>
            <p:nvGrpSpPr>
              <p:cNvPr id="160" name="Google Shape;160;p17"/>
              <p:cNvGrpSpPr/>
              <p:nvPr/>
            </p:nvGrpSpPr>
            <p:grpSpPr>
              <a:xfrm>
                <a:off x="0" y="0"/>
                <a:ext cx="4000500" cy="1143000"/>
                <a:chOff x="0" y="0"/>
                <a:chExt cx="4000500" cy="1143000"/>
              </a:xfrm>
            </p:grpSpPr>
            <p:sp>
              <p:nvSpPr>
                <p:cNvPr id="161" name="Google Shape;161;p17"/>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7"/>
                <p:cNvSpPr/>
                <p:nvPr/>
              </p:nvSpPr>
              <p:spPr>
                <a:xfrm>
                  <a:off x="0" y="0"/>
                  <a:ext cx="38100" cy="11430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7"/>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7"/>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5" name="Google Shape;165;p17"/>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06B6D4"/>
                    </a:solidFill>
                    <a:latin typeface="Space Mono"/>
                    <a:ea typeface="Space Mono"/>
                    <a:cs typeface="Space Mono"/>
                    <a:sym typeface="Space Mono"/>
                  </a:rPr>
                  <a:t>RIC ACT 2018 (CTH) SEC 11 &amp; 12</a:t>
                </a:r>
                <a:endParaRPr b="1" sz="900">
                  <a:solidFill>
                    <a:srgbClr val="06B6D4"/>
                  </a:solidFill>
                  <a:latin typeface="Space Mono"/>
                  <a:ea typeface="Space Mono"/>
                  <a:cs typeface="Space Mono"/>
                  <a:sym typeface="Space Mono"/>
                </a:endParaRPr>
              </a:p>
              <a:p>
                <a:pPr indent="0" lvl="0" marL="0" rtl="0" algn="l">
                  <a:spcBef>
                    <a:spcPts val="150"/>
                  </a:spcBef>
                  <a:spcAft>
                    <a:spcPts val="0"/>
                  </a:spcAft>
                  <a:buNone/>
                </a:pPr>
                <a:r>
                  <a:rPr b="1" lang="en" sz="1500">
                    <a:solidFill>
                      <a:srgbClr val="06B6D4"/>
                    </a:solidFill>
                    <a:latin typeface="Space Mono"/>
                    <a:ea typeface="Space Mono"/>
                    <a:cs typeface="Space Mono"/>
                    <a:sym typeface="Space Mono"/>
                  </a:rPr>
                  <a:t>PRECEDENT FOR CONCESSIONAL RESTRUCTURING</a:t>
                </a:r>
                <a:endParaRPr b="1" sz="1500">
                  <a:solidFill>
                    <a:srgbClr val="06B6D4"/>
                  </a:solidFill>
                  <a:latin typeface="Space Mono"/>
                  <a:ea typeface="Space Mono"/>
                  <a:cs typeface="Space Mono"/>
                  <a:sym typeface="Space Mono"/>
                </a:endParaRPr>
              </a:p>
            </p:txBody>
          </p:sp>
        </p:grpSp>
      </p:grpSp>
      <p:grpSp>
        <p:nvGrpSpPr>
          <p:cNvPr id="166" name="Google Shape;166;p17"/>
          <p:cNvGrpSpPr/>
          <p:nvPr/>
        </p:nvGrpSpPr>
        <p:grpSpPr>
          <a:xfrm>
            <a:off x="4757738" y="1328738"/>
            <a:ext cx="4010100" cy="3057450"/>
            <a:chOff x="-4762" y="-4762"/>
            <a:chExt cx="4010100" cy="3057450"/>
          </a:xfrm>
        </p:grpSpPr>
        <p:grpSp>
          <p:nvGrpSpPr>
            <p:cNvPr id="167" name="Google Shape;167;p17"/>
            <p:cNvGrpSpPr/>
            <p:nvPr/>
          </p:nvGrpSpPr>
          <p:grpSpPr>
            <a:xfrm>
              <a:off x="-4762" y="-4762"/>
              <a:ext cx="4010100" cy="1438200"/>
              <a:chOff x="-4762" y="-4762"/>
              <a:chExt cx="4010100" cy="1438200"/>
            </a:xfrm>
          </p:grpSpPr>
          <p:grpSp>
            <p:nvGrpSpPr>
              <p:cNvPr id="168" name="Google Shape;168;p17"/>
              <p:cNvGrpSpPr/>
              <p:nvPr/>
            </p:nvGrpSpPr>
            <p:grpSpPr>
              <a:xfrm>
                <a:off x="-4762" y="-4762"/>
                <a:ext cx="4010100" cy="1438200"/>
                <a:chOff x="-4762" y="-4762"/>
                <a:chExt cx="4010100" cy="1438200"/>
              </a:xfrm>
            </p:grpSpPr>
            <p:pic>
              <p:nvPicPr>
                <p:cNvPr id="169" name="Google Shape;169;p17"/>
                <p:cNvPicPr preferRelativeResize="0"/>
                <p:nvPr/>
              </p:nvPicPr>
              <p:blipFill rotWithShape="1">
                <a:blip r:embed="rId3">
                  <a:alphaModFix/>
                </a:blip>
                <a:srcRect b="0" l="0" r="0" t="0"/>
                <a:stretch/>
              </p:blipFill>
              <p:spPr>
                <a:xfrm>
                  <a:off x="-4762" y="-4762"/>
                  <a:ext cx="4010100" cy="1438200"/>
                </a:xfrm>
                <a:prstGeom prst="rect">
                  <a:avLst/>
                </a:prstGeom>
                <a:noFill/>
                <a:ln>
                  <a:noFill/>
                </a:ln>
              </p:spPr>
            </p:pic>
            <p:sp>
              <p:nvSpPr>
                <p:cNvPr id="170" name="Google Shape;170;p17"/>
                <p:cNvSpPr/>
                <p:nvPr/>
              </p:nvSpPr>
              <p:spPr>
                <a:xfrm>
                  <a:off x="0" y="0"/>
                  <a:ext cx="4000500" cy="2859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1" name="Google Shape;171;p17"/>
              <p:cNvSpPr txBox="1"/>
              <p:nvPr/>
            </p:nvSpPr>
            <p:spPr>
              <a:xfrm>
                <a:off x="152400" y="57150"/>
                <a:ext cx="3695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0F4F8"/>
                    </a:solidFill>
                    <a:latin typeface="Space Mono"/>
                    <a:ea typeface="Space Mono"/>
                    <a:cs typeface="Space Mono"/>
                    <a:sym typeface="Space Mono"/>
                  </a:rPr>
                  <a:t>SECTION 358, LOCAL GOVERNMENT ACT 1993 (NSW)</a:t>
                </a:r>
                <a:endParaRPr b="1" sz="900">
                  <a:solidFill>
                    <a:srgbClr val="F0F4F8"/>
                  </a:solidFill>
                  <a:latin typeface="Space Mono"/>
                  <a:ea typeface="Space Mono"/>
                  <a:cs typeface="Space Mono"/>
                  <a:sym typeface="Space Mono"/>
                </a:endParaRPr>
              </a:p>
            </p:txBody>
          </p:sp>
          <p:sp>
            <p:nvSpPr>
              <p:cNvPr id="172" name="Google Shape;172;p17"/>
              <p:cNvSpPr txBox="1"/>
              <p:nvPr/>
            </p:nvSpPr>
            <p:spPr>
              <a:xfrm>
                <a:off x="152400" y="438150"/>
                <a:ext cx="3695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050">
                    <a:solidFill>
                      <a:srgbClr val="94A3B8"/>
                    </a:solidFill>
                    <a:latin typeface="Inter"/>
                    <a:ea typeface="Inter"/>
                    <a:cs typeface="Inter"/>
                    <a:sym typeface="Inter"/>
                  </a:rPr>
                  <a:t>Provides explicit statutory authority for municipal councils to form mutual corporations and enter into joint services with ministerial approval.</a:t>
                </a:r>
                <a:endParaRPr b="0" sz="1050">
                  <a:solidFill>
                    <a:srgbClr val="94A3B8"/>
                  </a:solidFill>
                  <a:latin typeface="Inter"/>
                  <a:ea typeface="Inter"/>
                  <a:cs typeface="Inter"/>
                  <a:sym typeface="Inter"/>
                </a:endParaRPr>
              </a:p>
            </p:txBody>
          </p:sp>
        </p:grpSp>
        <p:grpSp>
          <p:nvGrpSpPr>
            <p:cNvPr id="173" name="Google Shape;173;p17"/>
            <p:cNvGrpSpPr/>
            <p:nvPr/>
          </p:nvGrpSpPr>
          <p:grpSpPr>
            <a:xfrm>
              <a:off x="-4762" y="1614488"/>
              <a:ext cx="4010100" cy="1438200"/>
              <a:chOff x="-4762" y="-4762"/>
              <a:chExt cx="4010100" cy="1438200"/>
            </a:xfrm>
          </p:grpSpPr>
          <p:grpSp>
            <p:nvGrpSpPr>
              <p:cNvPr id="174" name="Google Shape;174;p17"/>
              <p:cNvGrpSpPr/>
              <p:nvPr/>
            </p:nvGrpSpPr>
            <p:grpSpPr>
              <a:xfrm>
                <a:off x="-4762" y="-4762"/>
                <a:ext cx="4010100" cy="1438200"/>
                <a:chOff x="-4762" y="-4762"/>
                <a:chExt cx="4010100" cy="1438200"/>
              </a:xfrm>
            </p:grpSpPr>
            <p:pic>
              <p:nvPicPr>
                <p:cNvPr id="175" name="Google Shape;175;p17"/>
                <p:cNvPicPr preferRelativeResize="0"/>
                <p:nvPr/>
              </p:nvPicPr>
              <p:blipFill rotWithShape="1">
                <a:blip r:embed="rId3">
                  <a:alphaModFix/>
                </a:blip>
                <a:srcRect b="0" l="0" r="0" t="0"/>
                <a:stretch/>
              </p:blipFill>
              <p:spPr>
                <a:xfrm>
                  <a:off x="-4762" y="-4762"/>
                  <a:ext cx="4010100" cy="1438200"/>
                </a:xfrm>
                <a:prstGeom prst="rect">
                  <a:avLst/>
                </a:prstGeom>
                <a:noFill/>
                <a:ln>
                  <a:noFill/>
                </a:ln>
              </p:spPr>
            </p:pic>
            <p:sp>
              <p:nvSpPr>
                <p:cNvPr id="176" name="Google Shape;176;p17"/>
                <p:cNvSpPr/>
                <p:nvPr/>
              </p:nvSpPr>
              <p:spPr>
                <a:xfrm>
                  <a:off x="0" y="0"/>
                  <a:ext cx="4000500" cy="2859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7" name="Google Shape;177;p17"/>
              <p:cNvSpPr txBox="1"/>
              <p:nvPr/>
            </p:nvSpPr>
            <p:spPr>
              <a:xfrm>
                <a:off x="152400" y="57150"/>
                <a:ext cx="3695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0F4F8"/>
                    </a:solidFill>
                    <a:latin typeface="Space Mono"/>
                    <a:ea typeface="Space Mono"/>
                    <a:cs typeface="Space Mono"/>
                    <a:sym typeface="Space Mono"/>
                  </a:rPr>
                  <a:t>PART 5C &amp; SECTION 66, CORPORATIONS ACT 2001 (CTH)</a:t>
                </a:r>
                <a:endParaRPr b="1" sz="900">
                  <a:solidFill>
                    <a:srgbClr val="F0F4F8"/>
                  </a:solidFill>
                  <a:latin typeface="Space Mono"/>
                  <a:ea typeface="Space Mono"/>
                  <a:cs typeface="Space Mono"/>
                  <a:sym typeface="Space Mono"/>
                </a:endParaRPr>
              </a:p>
            </p:txBody>
          </p:sp>
          <p:sp>
            <p:nvSpPr>
              <p:cNvPr id="178" name="Google Shape;178;p17"/>
              <p:cNvSpPr txBox="1"/>
              <p:nvPr/>
            </p:nvSpPr>
            <p:spPr>
              <a:xfrm>
                <a:off x="152400" y="438150"/>
                <a:ext cx="3695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050">
                    <a:solidFill>
                      <a:srgbClr val="94A3B8"/>
                    </a:solidFill>
                    <a:latin typeface="Inter"/>
                    <a:ea typeface="Inter"/>
                    <a:cs typeface="Inter"/>
                    <a:sym typeface="Inter"/>
                  </a:rPr>
                  <a:t>Comprehensive legal protections for member-owned credit unions and non-distributive mutual capital reserves, ensuring wealth remains in service of the region.</a:t>
                </a:r>
                <a:endParaRPr b="0" sz="1050">
                  <a:solidFill>
                    <a:srgbClr val="94A3B8"/>
                  </a:solidFill>
                  <a:latin typeface="Inter"/>
                  <a:ea typeface="Inter"/>
                  <a:cs typeface="Inter"/>
                  <a:sym typeface="Inter"/>
                </a:endParaRPr>
              </a:p>
            </p:txBody>
          </p:sp>
        </p:grpSp>
      </p:grpSp>
      <p:grpSp>
        <p:nvGrpSpPr>
          <p:cNvPr id="179" name="Google Shape;179;p17"/>
          <p:cNvGrpSpPr/>
          <p:nvPr/>
        </p:nvGrpSpPr>
        <p:grpSpPr>
          <a:xfrm>
            <a:off x="381000" y="4848225"/>
            <a:ext cx="8382000" cy="247650"/>
            <a:chOff x="381000" y="4848225"/>
            <a:chExt cx="8382000" cy="247650"/>
          </a:xfrm>
        </p:grpSpPr>
        <p:sp>
          <p:nvSpPr>
            <p:cNvPr id="180" name="Google Shape;180;p17"/>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7"/>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17"/>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2026-OCT-27 // SYS.VERIFIED</a:t>
              </a:r>
              <a:endParaRPr b="0" sz="750">
                <a:solidFill>
                  <a:srgbClr val="94A3B8"/>
                </a:solidFill>
                <a:latin typeface="Space Mono"/>
                <a:ea typeface="Space Mono"/>
                <a:cs typeface="Space Mono"/>
                <a:sym typeface="Space Mon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grpSp>
        <p:nvGrpSpPr>
          <p:cNvPr id="187" name="Google Shape;187;p18"/>
          <p:cNvGrpSpPr/>
          <p:nvPr/>
        </p:nvGrpSpPr>
        <p:grpSpPr>
          <a:xfrm>
            <a:off x="0" y="0"/>
            <a:ext cx="9144000" cy="5143500"/>
            <a:chOff x="0" y="0"/>
            <a:chExt cx="9144000" cy="5143500"/>
          </a:xfrm>
        </p:grpSpPr>
        <p:sp>
          <p:nvSpPr>
            <p:cNvPr id="188" name="Google Shape;188;p18"/>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8"/>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8"/>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91" name="Google Shape;191;p18"/>
          <p:cNvGrpSpPr/>
          <p:nvPr/>
        </p:nvGrpSpPr>
        <p:grpSpPr>
          <a:xfrm>
            <a:off x="381000" y="142875"/>
            <a:ext cx="8382000" cy="247575"/>
            <a:chOff x="381000" y="142875"/>
            <a:chExt cx="8382000" cy="247575"/>
          </a:xfrm>
        </p:grpSpPr>
        <p:sp>
          <p:nvSpPr>
            <p:cNvPr id="192" name="Google Shape;192;p18"/>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8"/>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8"/>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195" name="Google Shape;195;p18"/>
          <p:cNvGrpSpPr/>
          <p:nvPr/>
        </p:nvGrpSpPr>
        <p:grpSpPr>
          <a:xfrm>
            <a:off x="381000" y="4848225"/>
            <a:ext cx="8382000" cy="247650"/>
            <a:chOff x="381000" y="4848225"/>
            <a:chExt cx="8382000" cy="247650"/>
          </a:xfrm>
        </p:grpSpPr>
        <p:sp>
          <p:nvSpPr>
            <p:cNvPr id="196" name="Google Shape;196;p18"/>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8"/>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8"/>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2026-05-22 // SYS.VERIFIED</a:t>
              </a:r>
              <a:endParaRPr b="0" sz="750">
                <a:solidFill>
                  <a:srgbClr val="94A3B8"/>
                </a:solidFill>
                <a:latin typeface="Space Mono"/>
                <a:ea typeface="Space Mono"/>
                <a:cs typeface="Space Mono"/>
                <a:sym typeface="Space Mono"/>
              </a:endParaRPr>
            </a:p>
          </p:txBody>
        </p:sp>
      </p:grpSp>
      <p:sp>
        <p:nvSpPr>
          <p:cNvPr id="199" name="Google Shape;199;p18"/>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100">
                <a:solidFill>
                  <a:srgbClr val="F0F4F8"/>
                </a:solidFill>
                <a:latin typeface="Inter"/>
                <a:ea typeface="Inter"/>
                <a:cs typeface="Inter"/>
                <a:sym typeface="Inter"/>
              </a:rPr>
              <a:t>A Turnkey Governance Motion for Ordinary Council Meetings</a:t>
            </a:r>
            <a:endParaRPr b="1" sz="2100">
              <a:solidFill>
                <a:srgbClr val="F0F4F8"/>
              </a:solidFill>
              <a:latin typeface="Inter"/>
              <a:ea typeface="Inter"/>
              <a:cs typeface="Inter"/>
              <a:sym typeface="Inter"/>
            </a:endParaRPr>
          </a:p>
        </p:txBody>
      </p:sp>
      <p:sp>
        <p:nvSpPr>
          <p:cNvPr id="200" name="Google Shape;200;p18"/>
          <p:cNvSpPr txBox="1"/>
          <p:nvPr/>
        </p:nvSpPr>
        <p:spPr>
          <a:xfrm>
            <a:off x="381000" y="1333500"/>
            <a:ext cx="40005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94A3B8"/>
                </a:solidFill>
                <a:latin typeface="Inter"/>
                <a:ea typeface="Inter"/>
                <a:cs typeface="Inter"/>
                <a:sym typeface="Inter"/>
              </a:rPr>
              <a:t>To streamline adoption, a turnkey governance motion is provided to be tabled at ordinary council meetings, providing a clear, legally sound pathway for the formal initiation of the Sovereign Mutual Credit Union.</a:t>
            </a:r>
            <a:endParaRPr b="0" sz="1050">
              <a:solidFill>
                <a:srgbClr val="94A3B8"/>
              </a:solidFill>
              <a:latin typeface="Inter"/>
              <a:ea typeface="Inter"/>
              <a:cs typeface="Inter"/>
              <a:sym typeface="Inter"/>
            </a:endParaRPr>
          </a:p>
          <a:p>
            <a:pPr indent="0" lvl="0" marL="0" rtl="0" algn="l">
              <a:spcBef>
                <a:spcPts val="900"/>
              </a:spcBef>
              <a:spcAft>
                <a:spcPts val="0"/>
              </a:spcAft>
              <a:buNone/>
            </a:pPr>
            <a:r>
              <a:rPr b="1" lang="en" sz="1050">
                <a:solidFill>
                  <a:srgbClr val="F0F4F8"/>
                </a:solidFill>
                <a:latin typeface="Inter"/>
                <a:ea typeface="Inter"/>
                <a:cs typeface="Inter"/>
                <a:sym typeface="Inter"/>
              </a:rPr>
              <a:t>Key Clauses:</a:t>
            </a:r>
            <a:endParaRPr b="1" sz="1050">
              <a:solidFill>
                <a:srgbClr val="F0F4F8"/>
              </a:solidFill>
              <a:latin typeface="Inter"/>
              <a:ea typeface="Inter"/>
              <a:cs typeface="Inter"/>
              <a:sym typeface="Inter"/>
            </a:endParaRPr>
          </a:p>
          <a:p>
            <a:pPr indent="-317500" lvl="0" marL="457200" rtl="0" algn="l">
              <a:spcBef>
                <a:spcPts val="600"/>
              </a:spcBef>
              <a:spcAft>
                <a:spcPts val="0"/>
              </a:spcAft>
              <a:buClr>
                <a:srgbClr val="06B6D4"/>
              </a:buClr>
              <a:buSzPts val="1400"/>
              <a:buChar char="●"/>
            </a:pPr>
            <a:r>
              <a:rPr b="1" lang="en" sz="1050">
                <a:solidFill>
                  <a:srgbClr val="F0F4F8"/>
                </a:solidFill>
                <a:latin typeface="Inter"/>
                <a:ea typeface="Inter"/>
                <a:cs typeface="Inter"/>
                <a:sym typeface="Inter"/>
              </a:rPr>
              <a:t>Formal Finding:</a:t>
            </a:r>
            <a:r>
              <a:rPr b="0" lang="en" sz="1050">
                <a:solidFill>
                  <a:srgbClr val="94A3B8"/>
                </a:solidFill>
                <a:latin typeface="Inter"/>
                <a:ea typeface="Inter"/>
                <a:cs typeface="Inter"/>
                <a:sym typeface="Inter"/>
              </a:rPr>
              <a:t> Finding on cost-push inflationary impact of compounding interest.</a:t>
            </a:r>
            <a:endParaRPr b="0" sz="1050">
              <a:solidFill>
                <a:srgbClr val="94A3B8"/>
              </a:solidFill>
              <a:latin typeface="Inter"/>
              <a:ea typeface="Inter"/>
              <a:cs typeface="Inter"/>
              <a:sym typeface="Inter"/>
            </a:endParaRPr>
          </a:p>
          <a:p>
            <a:pPr indent="-317500" lvl="0" marL="457200" rtl="0" algn="l">
              <a:spcBef>
                <a:spcPts val="750"/>
              </a:spcBef>
              <a:spcAft>
                <a:spcPts val="0"/>
              </a:spcAft>
              <a:buClr>
                <a:srgbClr val="06B6D4"/>
              </a:buClr>
              <a:buSzPts val="1400"/>
              <a:buChar char="●"/>
            </a:pPr>
            <a:r>
              <a:rPr b="1" lang="en" sz="1050">
                <a:solidFill>
                  <a:srgbClr val="F0F4F8"/>
                </a:solidFill>
                <a:latin typeface="Inter"/>
                <a:ea typeface="Inter"/>
                <a:cs typeface="Inter"/>
                <a:sym typeface="Inter"/>
              </a:rPr>
              <a:t>Section 358 Approval:</a:t>
            </a:r>
            <a:r>
              <a:rPr b="0" lang="en" sz="1050">
                <a:solidFill>
                  <a:srgbClr val="94A3B8"/>
                </a:solidFill>
                <a:latin typeface="Inter"/>
                <a:ea typeface="Inter"/>
                <a:cs typeface="Inter"/>
                <a:sym typeface="Inter"/>
              </a:rPr>
              <a:t> Council approval to sponsor and establish a local Sovereign Mutual Credit Union (SMCU).</a:t>
            </a:r>
            <a:endParaRPr b="0" sz="1050">
              <a:solidFill>
                <a:srgbClr val="94A3B8"/>
              </a:solidFill>
              <a:latin typeface="Inter"/>
              <a:ea typeface="Inter"/>
              <a:cs typeface="Inter"/>
              <a:sym typeface="Inter"/>
            </a:endParaRPr>
          </a:p>
          <a:p>
            <a:pPr indent="-317500" lvl="0" marL="457200" rtl="0" algn="l">
              <a:spcBef>
                <a:spcPts val="750"/>
              </a:spcBef>
              <a:spcAft>
                <a:spcPts val="0"/>
              </a:spcAft>
              <a:buClr>
                <a:srgbClr val="06B6D4"/>
              </a:buClr>
              <a:buSzPts val="1400"/>
              <a:buChar char="●"/>
            </a:pPr>
            <a:r>
              <a:rPr b="1" lang="en" sz="1050">
                <a:solidFill>
                  <a:srgbClr val="F0F4F8"/>
                </a:solidFill>
                <a:latin typeface="Inter"/>
                <a:ea typeface="Inter"/>
                <a:cs typeface="Inter"/>
                <a:sym typeface="Inter"/>
              </a:rPr>
              <a:t>Theorem 5 Adoption:</a:t>
            </a:r>
            <a:r>
              <a:rPr b="0" lang="en" sz="1050">
                <a:solidFill>
                  <a:srgbClr val="94A3B8"/>
                </a:solidFill>
                <a:latin typeface="Inter"/>
                <a:ea typeface="Inter"/>
                <a:cs typeface="Inter"/>
                <a:sym typeface="Inter"/>
              </a:rPr>
              <a:t> Mandatory adoption of r_compound == 0.0% p.a. and linear debt amortization.</a:t>
            </a:r>
            <a:endParaRPr b="0" sz="1050">
              <a:solidFill>
                <a:srgbClr val="94A3B8"/>
              </a:solidFill>
              <a:latin typeface="Inter"/>
              <a:ea typeface="Inter"/>
              <a:cs typeface="Inter"/>
              <a:sym typeface="Inter"/>
            </a:endParaRPr>
          </a:p>
          <a:p>
            <a:pPr indent="-317500" lvl="0" marL="457200" rtl="0" algn="l">
              <a:spcBef>
                <a:spcPts val="750"/>
              </a:spcBef>
              <a:spcAft>
                <a:spcPts val="750"/>
              </a:spcAft>
              <a:buClr>
                <a:srgbClr val="06B6D4"/>
              </a:buClr>
              <a:buSzPts val="1400"/>
              <a:buChar char="●"/>
            </a:pPr>
            <a:r>
              <a:rPr b="1" lang="en" sz="1050">
                <a:solidFill>
                  <a:srgbClr val="F0F4F8"/>
                </a:solidFill>
                <a:latin typeface="Inter"/>
                <a:ea typeface="Inter"/>
                <a:cs typeface="Inter"/>
                <a:sym typeface="Inter"/>
              </a:rPr>
              <a:t>Executive Authorization:</a:t>
            </a:r>
            <a:r>
              <a:rPr b="0" lang="en" sz="1050">
                <a:solidFill>
                  <a:srgbClr val="94A3B8"/>
                </a:solidFill>
                <a:latin typeface="Inter"/>
                <a:ea typeface="Inter"/>
                <a:cs typeface="Inter"/>
                <a:sym typeface="Inter"/>
              </a:rPr>
              <a:t> GM authorization to execute the Multi-Shire Joint Powers Alliance Compact.</a:t>
            </a:r>
            <a:endParaRPr b="0" sz="1050">
              <a:solidFill>
                <a:srgbClr val="94A3B8"/>
              </a:solidFill>
              <a:latin typeface="Inter"/>
              <a:ea typeface="Inter"/>
              <a:cs typeface="Inter"/>
              <a:sym typeface="Inter"/>
            </a:endParaRPr>
          </a:p>
        </p:txBody>
      </p:sp>
      <p:grpSp>
        <p:nvGrpSpPr>
          <p:cNvPr id="201" name="Google Shape;201;p18"/>
          <p:cNvGrpSpPr/>
          <p:nvPr/>
        </p:nvGrpSpPr>
        <p:grpSpPr>
          <a:xfrm>
            <a:off x="4762500" y="1333500"/>
            <a:ext cx="4000500" cy="2476500"/>
            <a:chOff x="4762500" y="1333500"/>
            <a:chExt cx="4000500" cy="2476500"/>
          </a:xfrm>
        </p:grpSpPr>
        <p:grpSp>
          <p:nvGrpSpPr>
            <p:cNvPr id="202" name="Google Shape;202;p18"/>
            <p:cNvGrpSpPr/>
            <p:nvPr/>
          </p:nvGrpSpPr>
          <p:grpSpPr>
            <a:xfrm>
              <a:off x="4762500" y="1333500"/>
              <a:ext cx="4000500" cy="1143000"/>
              <a:chOff x="0" y="0"/>
              <a:chExt cx="4000500" cy="1143000"/>
            </a:xfrm>
          </p:grpSpPr>
          <p:sp>
            <p:nvSpPr>
              <p:cNvPr id="203" name="Google Shape;203;p18"/>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18"/>
              <p:cNvSpPr/>
              <p:nvPr/>
            </p:nvSpPr>
            <p:spPr>
              <a:xfrm>
                <a:off x="0" y="0"/>
                <a:ext cx="38100" cy="11430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8"/>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18"/>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18"/>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98">
                    <a:solidFill>
                      <a:srgbClr val="F59E0B"/>
                    </a:solidFill>
                    <a:latin typeface="Space Mono"/>
                    <a:ea typeface="Space Mono"/>
                    <a:cs typeface="Space Mono"/>
                    <a:sym typeface="Space Mono"/>
                  </a:rPr>
                  <a:t>THEOREM 5</a:t>
                </a:r>
                <a:endParaRPr b="1" sz="698">
                  <a:solidFill>
                    <a:srgbClr val="F59E0B"/>
                  </a:solidFill>
                  <a:latin typeface="Space Mono"/>
                  <a:ea typeface="Space Mono"/>
                  <a:cs typeface="Space Mono"/>
                  <a:sym typeface="Space Mono"/>
                </a:endParaRPr>
              </a:p>
              <a:p>
                <a:pPr indent="0" lvl="0" marL="0" rtl="0" algn="l">
                  <a:spcBef>
                    <a:spcPts val="600"/>
                  </a:spcBef>
                  <a:spcAft>
                    <a:spcPts val="600"/>
                  </a:spcAft>
                  <a:buNone/>
                </a:pPr>
                <a:r>
                  <a:rPr b="1" lang="en" sz="2325">
                    <a:solidFill>
                      <a:srgbClr val="F0F4F8"/>
                    </a:solidFill>
                    <a:latin typeface="Space Mono"/>
                    <a:ea typeface="Space Mono"/>
                    <a:cs typeface="Space Mono"/>
                    <a:sym typeface="Space Mono"/>
                  </a:rPr>
                  <a:t>r_compound = 0.00%</a:t>
                </a:r>
                <a:endParaRPr b="1" sz="2325">
                  <a:solidFill>
                    <a:srgbClr val="F0F4F8"/>
                  </a:solidFill>
                  <a:latin typeface="Space Mono"/>
                  <a:ea typeface="Space Mono"/>
                  <a:cs typeface="Space Mono"/>
                  <a:sym typeface="Space Mono"/>
                </a:endParaRPr>
              </a:p>
            </p:txBody>
          </p:sp>
        </p:grpSp>
        <p:grpSp>
          <p:nvGrpSpPr>
            <p:cNvPr id="208" name="Google Shape;208;p18"/>
            <p:cNvGrpSpPr/>
            <p:nvPr/>
          </p:nvGrpSpPr>
          <p:grpSpPr>
            <a:xfrm>
              <a:off x="4762500" y="2667000"/>
              <a:ext cx="4000500" cy="1143000"/>
              <a:chOff x="0" y="0"/>
              <a:chExt cx="4000500" cy="1143000"/>
            </a:xfrm>
          </p:grpSpPr>
          <p:sp>
            <p:nvSpPr>
              <p:cNvPr id="209" name="Google Shape;209;p18"/>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8"/>
              <p:cNvSpPr/>
              <p:nvPr/>
            </p:nvSpPr>
            <p:spPr>
              <a:xfrm>
                <a:off x="0" y="0"/>
                <a:ext cx="38100" cy="11430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8"/>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8"/>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8"/>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33">
                    <a:solidFill>
                      <a:srgbClr val="06B6D4"/>
                    </a:solidFill>
                    <a:latin typeface="Space Mono"/>
                    <a:ea typeface="Space Mono"/>
                    <a:cs typeface="Space Mono"/>
                    <a:sym typeface="Space Mono"/>
                  </a:rPr>
                  <a:t>LGA s358</a:t>
                </a:r>
                <a:endParaRPr b="1" sz="833">
                  <a:solidFill>
                    <a:srgbClr val="06B6D4"/>
                  </a:solidFill>
                  <a:latin typeface="Space Mono"/>
                  <a:ea typeface="Space Mono"/>
                  <a:cs typeface="Space Mono"/>
                  <a:sym typeface="Space Mono"/>
                </a:endParaRPr>
              </a:p>
              <a:p>
                <a:pPr indent="0" lvl="0" marL="0" rtl="0" algn="l">
                  <a:spcBef>
                    <a:spcPts val="600"/>
                  </a:spcBef>
                  <a:spcAft>
                    <a:spcPts val="600"/>
                  </a:spcAft>
                  <a:buNone/>
                </a:pPr>
                <a:r>
                  <a:rPr b="1" lang="en" sz="2220">
                    <a:solidFill>
                      <a:srgbClr val="06B6D4"/>
                    </a:solidFill>
                    <a:latin typeface="Space Mono"/>
                    <a:ea typeface="Space Mono"/>
                    <a:cs typeface="Space Mono"/>
                    <a:sym typeface="Space Mono"/>
                  </a:rPr>
                  <a:t>MUTUAL CORP APPROVED</a:t>
                </a:r>
                <a:endParaRPr b="1" sz="2220">
                  <a:solidFill>
                    <a:srgbClr val="06B6D4"/>
                  </a:solidFill>
                  <a:latin typeface="Space Mono"/>
                  <a:ea typeface="Space Mono"/>
                  <a:cs typeface="Space Mono"/>
                  <a:sym typeface="Space Mono"/>
                </a:endParaRPr>
              </a:p>
            </p:txBody>
          </p:sp>
        </p:grpSp>
      </p:grpSp>
      <p:grpSp>
        <p:nvGrpSpPr>
          <p:cNvPr id="214" name="Google Shape;214;p18"/>
          <p:cNvGrpSpPr/>
          <p:nvPr/>
        </p:nvGrpSpPr>
        <p:grpSpPr>
          <a:xfrm>
            <a:off x="6662738" y="3971925"/>
            <a:ext cx="1724100" cy="581175"/>
            <a:chOff x="-4762" y="-28575"/>
            <a:chExt cx="1724100" cy="581175"/>
          </a:xfrm>
        </p:grpSpPr>
        <p:pic>
          <p:nvPicPr>
            <p:cNvPr id="215" name="Google Shape;215;p18"/>
            <p:cNvPicPr preferRelativeResize="0"/>
            <p:nvPr/>
          </p:nvPicPr>
          <p:blipFill rotWithShape="1">
            <a:blip r:embed="rId3">
              <a:alphaModFix/>
            </a:blip>
            <a:srcRect b="0" l="0" r="0" t="0"/>
            <a:stretch/>
          </p:blipFill>
          <p:spPr>
            <a:xfrm>
              <a:off x="-4762" y="-4762"/>
              <a:ext cx="1724100" cy="390600"/>
            </a:xfrm>
            <a:prstGeom prst="rect">
              <a:avLst/>
            </a:prstGeom>
            <a:noFill/>
            <a:ln>
              <a:noFill/>
            </a:ln>
          </p:spPr>
        </p:pic>
        <p:pic>
          <p:nvPicPr>
            <p:cNvPr id="216" name="Google Shape;216;p18"/>
            <p:cNvPicPr preferRelativeResize="0"/>
            <p:nvPr/>
          </p:nvPicPr>
          <p:blipFill rotWithShape="1">
            <a:blip r:embed="rId4">
              <a:alphaModFix/>
            </a:blip>
            <a:srcRect b="0" l="0" r="0" t="0"/>
            <a:stretch/>
          </p:blipFill>
          <p:spPr>
            <a:xfrm>
              <a:off x="352425" y="-28575"/>
              <a:ext cx="57300" cy="57300"/>
            </a:xfrm>
            <a:prstGeom prst="rect">
              <a:avLst/>
            </a:prstGeom>
            <a:noFill/>
            <a:ln>
              <a:noFill/>
            </a:ln>
          </p:spPr>
        </p:pic>
        <p:pic>
          <p:nvPicPr>
            <p:cNvPr id="217" name="Google Shape;217;p18"/>
            <p:cNvPicPr preferRelativeResize="0"/>
            <p:nvPr/>
          </p:nvPicPr>
          <p:blipFill rotWithShape="1">
            <a:blip r:embed="rId4">
              <a:alphaModFix/>
            </a:blip>
            <a:srcRect b="0" l="0" r="0" t="0"/>
            <a:stretch/>
          </p:blipFill>
          <p:spPr>
            <a:xfrm>
              <a:off x="1114425" y="161925"/>
              <a:ext cx="57300" cy="57300"/>
            </a:xfrm>
            <a:prstGeom prst="rect">
              <a:avLst/>
            </a:prstGeom>
            <a:noFill/>
            <a:ln>
              <a:noFill/>
            </a:ln>
          </p:spPr>
        </p:pic>
        <p:pic>
          <p:nvPicPr>
            <p:cNvPr id="218" name="Google Shape;218;p18"/>
            <p:cNvPicPr preferRelativeResize="0"/>
            <p:nvPr/>
          </p:nvPicPr>
          <p:blipFill rotWithShape="1">
            <a:blip r:embed="rId5">
              <a:alphaModFix/>
            </a:blip>
            <a:srcRect b="0" l="0" r="0" t="0"/>
            <a:stretch/>
          </p:blipFill>
          <p:spPr>
            <a:xfrm>
              <a:off x="376238" y="0"/>
              <a:ext cx="771600" cy="55260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grpSp>
        <p:nvGrpSpPr>
          <p:cNvPr id="223" name="Google Shape;223;p19"/>
          <p:cNvGrpSpPr/>
          <p:nvPr/>
        </p:nvGrpSpPr>
        <p:grpSpPr>
          <a:xfrm>
            <a:off x="0" y="0"/>
            <a:ext cx="9144000" cy="5143500"/>
            <a:chOff x="0" y="0"/>
            <a:chExt cx="9144000" cy="5143500"/>
          </a:xfrm>
        </p:grpSpPr>
        <p:sp>
          <p:nvSpPr>
            <p:cNvPr id="224" name="Google Shape;224;p19"/>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9"/>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9"/>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27" name="Google Shape;227;p19"/>
          <p:cNvGrpSpPr/>
          <p:nvPr/>
        </p:nvGrpSpPr>
        <p:grpSpPr>
          <a:xfrm>
            <a:off x="381000" y="142875"/>
            <a:ext cx="8382000" cy="247575"/>
            <a:chOff x="381000" y="142875"/>
            <a:chExt cx="8382000" cy="247575"/>
          </a:xfrm>
        </p:grpSpPr>
        <p:sp>
          <p:nvSpPr>
            <p:cNvPr id="228" name="Google Shape;228;p19"/>
            <p:cNvSpPr/>
            <p:nvPr/>
          </p:nvSpPr>
          <p:spPr>
            <a:xfrm>
              <a:off x="381000" y="190500"/>
              <a:ext cx="8382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19"/>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9"/>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9"/>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232" name="Google Shape;232;p19"/>
          <p:cNvGrpSpPr/>
          <p:nvPr/>
        </p:nvGrpSpPr>
        <p:grpSpPr>
          <a:xfrm>
            <a:off x="381000" y="4848225"/>
            <a:ext cx="8382000" cy="247650"/>
            <a:chOff x="381000" y="4848225"/>
            <a:chExt cx="8382000" cy="247650"/>
          </a:xfrm>
        </p:grpSpPr>
        <p:sp>
          <p:nvSpPr>
            <p:cNvPr id="233" name="Google Shape;233;p19"/>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19"/>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9"/>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2026.05.12 // SYS.VERIFIED</a:t>
              </a:r>
              <a:endParaRPr b="0" sz="750">
                <a:solidFill>
                  <a:srgbClr val="94A3B8"/>
                </a:solidFill>
                <a:latin typeface="Space Mono"/>
                <a:ea typeface="Space Mono"/>
                <a:cs typeface="Space Mono"/>
                <a:sym typeface="Space Mono"/>
              </a:endParaRPr>
            </a:p>
          </p:txBody>
        </p:sp>
      </p:grpSp>
      <p:sp>
        <p:nvSpPr>
          <p:cNvPr id="236" name="Google Shape;236;p19"/>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100">
                <a:solidFill>
                  <a:srgbClr val="F0F4F8"/>
                </a:solidFill>
                <a:latin typeface="Inter"/>
                <a:ea typeface="Inter"/>
                <a:cs typeface="Inter"/>
                <a:sym typeface="Inter"/>
              </a:rPr>
              <a:t>Operational Form SCU-A1: Productive Farm Debt Refinancing</a:t>
            </a:r>
            <a:endParaRPr b="1" sz="2100">
              <a:solidFill>
                <a:srgbClr val="F0F4F8"/>
              </a:solidFill>
              <a:latin typeface="Inter"/>
              <a:ea typeface="Inter"/>
              <a:cs typeface="Inter"/>
              <a:sym typeface="Inter"/>
            </a:endParaRPr>
          </a:p>
        </p:txBody>
      </p:sp>
      <p:sp>
        <p:nvSpPr>
          <p:cNvPr id="237" name="Google Shape;237;p19"/>
          <p:cNvSpPr txBox="1"/>
          <p:nvPr/>
        </p:nvSpPr>
        <p:spPr>
          <a:xfrm>
            <a:off x="381000" y="1333500"/>
            <a:ext cx="40005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94A3B8"/>
                </a:solidFill>
                <a:latin typeface="Inter"/>
                <a:ea typeface="Inter"/>
                <a:cs typeface="Inter"/>
                <a:sym typeface="Inter"/>
              </a:rPr>
              <a:t>Form SCU-A1 defines the primary financial instrument for rescuing primary producers from extractive commercial debt, specifically for agricultural sustainability.</a:t>
            </a:r>
            <a:endParaRPr b="0" sz="1050">
              <a:solidFill>
                <a:srgbClr val="94A3B8"/>
              </a:solidFill>
              <a:latin typeface="Inter"/>
              <a:ea typeface="Inter"/>
              <a:cs typeface="Inter"/>
              <a:sym typeface="Inter"/>
            </a:endParaRPr>
          </a:p>
          <a:p>
            <a:pPr indent="0" lvl="0" marL="0" rtl="0" algn="l">
              <a:spcBef>
                <a:spcPts val="900"/>
              </a:spcBef>
              <a:spcAft>
                <a:spcPts val="0"/>
              </a:spcAft>
              <a:buNone/>
            </a:pPr>
            <a:r>
              <a:rPr b="1" lang="en" sz="1050">
                <a:solidFill>
                  <a:srgbClr val="F0F4F8"/>
                </a:solidFill>
                <a:latin typeface="Inter"/>
                <a:ea typeface="Inter"/>
                <a:cs typeface="Inter"/>
                <a:sym typeface="Inter"/>
              </a:rPr>
              <a:t>Facility Specifications:</a:t>
            </a:r>
            <a:endParaRPr b="1" sz="1050">
              <a:solidFill>
                <a:srgbClr val="F0F4F8"/>
              </a:solidFill>
              <a:latin typeface="Inter"/>
              <a:ea typeface="Inter"/>
              <a:cs typeface="Inter"/>
              <a:sym typeface="Inter"/>
            </a:endParaRPr>
          </a:p>
          <a:p>
            <a:pPr indent="-317500" lvl="0" marL="457200" rtl="0" algn="l">
              <a:spcBef>
                <a:spcPts val="600"/>
              </a:spcBef>
              <a:spcAft>
                <a:spcPts val="0"/>
              </a:spcAft>
              <a:buSzPts val="1400"/>
              <a:buChar char="●"/>
            </a:pPr>
            <a:r>
              <a:rPr b="0" lang="en" sz="1050">
                <a:solidFill>
                  <a:srgbClr val="94A3B8"/>
                </a:solidFill>
                <a:latin typeface="Inter"/>
                <a:ea typeface="Inter"/>
                <a:cs typeface="Inter"/>
                <a:sym typeface="Inter"/>
              </a:rPr>
              <a:t>Eligible Purposes: Refinancing debt on tractors, irrigation, silos, and solar arrays.</a:t>
            </a:r>
            <a:endParaRPr b="0" sz="1050">
              <a:solidFill>
                <a:srgbClr val="94A3B8"/>
              </a:solidFill>
              <a:latin typeface="Inter"/>
              <a:ea typeface="Inter"/>
              <a:cs typeface="Inter"/>
              <a:sym typeface="Inter"/>
            </a:endParaRPr>
          </a:p>
          <a:p>
            <a:pPr indent="-317500" lvl="0" marL="457200" rtl="0" algn="l">
              <a:spcBef>
                <a:spcPts val="750"/>
              </a:spcBef>
              <a:spcAft>
                <a:spcPts val="0"/>
              </a:spcAft>
              <a:buSzPts val="1400"/>
              <a:buChar char="●"/>
            </a:pPr>
            <a:r>
              <a:rPr b="0" lang="en" sz="1050">
                <a:solidFill>
                  <a:srgbClr val="94A3B8"/>
                </a:solidFill>
                <a:latin typeface="Inter"/>
                <a:ea typeface="Inter"/>
                <a:cs typeface="Inter"/>
                <a:sym typeface="Inter"/>
              </a:rPr>
              <a:t>Interest Rate: Strictly r_compound == 0.00% per annum (Theorem 5).</a:t>
            </a:r>
            <a:endParaRPr b="0" sz="1050">
              <a:solidFill>
                <a:srgbClr val="94A3B8"/>
              </a:solidFill>
              <a:latin typeface="Inter"/>
              <a:ea typeface="Inter"/>
              <a:cs typeface="Inter"/>
              <a:sym typeface="Inter"/>
            </a:endParaRPr>
          </a:p>
          <a:p>
            <a:pPr indent="-317500" lvl="0" marL="457200" rtl="0" algn="l">
              <a:spcBef>
                <a:spcPts val="750"/>
              </a:spcBef>
              <a:spcAft>
                <a:spcPts val="0"/>
              </a:spcAft>
              <a:buSzPts val="1400"/>
              <a:buChar char="●"/>
            </a:pPr>
            <a:r>
              <a:rPr b="0" lang="en" sz="1050">
                <a:solidFill>
                  <a:srgbClr val="94A3B8"/>
                </a:solidFill>
                <a:latin typeface="Inter"/>
                <a:ea typeface="Inter"/>
                <a:cs typeface="Inter"/>
                <a:sym typeface="Inter"/>
              </a:rPr>
              <a:t>Linear Amortization: Equal principal installments (Principal / Term).</a:t>
            </a:r>
            <a:endParaRPr b="0" sz="1050">
              <a:solidFill>
                <a:srgbClr val="94A3B8"/>
              </a:solidFill>
              <a:latin typeface="Inter"/>
              <a:ea typeface="Inter"/>
              <a:cs typeface="Inter"/>
              <a:sym typeface="Inter"/>
            </a:endParaRPr>
          </a:p>
          <a:p>
            <a:pPr indent="-317500" lvl="0" marL="457200" rtl="0" algn="l">
              <a:spcBef>
                <a:spcPts val="750"/>
              </a:spcBef>
              <a:spcAft>
                <a:spcPts val="1200"/>
              </a:spcAft>
              <a:buSzPts val="1400"/>
              <a:buChar char="●"/>
            </a:pPr>
            <a:r>
              <a:rPr b="0" lang="en" sz="1050">
                <a:solidFill>
                  <a:srgbClr val="94A3B8"/>
                </a:solidFill>
                <a:latin typeface="Inter"/>
                <a:ea typeface="Inter"/>
                <a:cs typeface="Inter"/>
                <a:sym typeface="Inter"/>
              </a:rPr>
              <a:t>Automatic Disaster Hazard Pause: Repayments freeze for 12 months if rainfall/yield collapses &gt;= 40%, with zero penalty.</a:t>
            </a:r>
            <a:endParaRPr b="0" sz="1050">
              <a:solidFill>
                <a:srgbClr val="94A3B8"/>
              </a:solidFill>
              <a:latin typeface="Inter"/>
              <a:ea typeface="Inter"/>
              <a:cs typeface="Inter"/>
              <a:sym typeface="Inter"/>
            </a:endParaRPr>
          </a:p>
        </p:txBody>
      </p:sp>
      <p:grpSp>
        <p:nvGrpSpPr>
          <p:cNvPr id="238" name="Google Shape;238;p19"/>
          <p:cNvGrpSpPr/>
          <p:nvPr/>
        </p:nvGrpSpPr>
        <p:grpSpPr>
          <a:xfrm>
            <a:off x="4762500" y="1333500"/>
            <a:ext cx="4000500" cy="1143000"/>
            <a:chOff x="0" y="0"/>
            <a:chExt cx="4000500" cy="1143000"/>
          </a:xfrm>
        </p:grpSpPr>
        <p:sp>
          <p:nvSpPr>
            <p:cNvPr id="239" name="Google Shape;239;p19"/>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19"/>
            <p:cNvSpPr/>
            <p:nvPr/>
          </p:nvSpPr>
          <p:spPr>
            <a:xfrm>
              <a:off x="0" y="0"/>
              <a:ext cx="38100" cy="11430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19"/>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19"/>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19"/>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30">
                  <a:solidFill>
                    <a:srgbClr val="F59E0B"/>
                  </a:solidFill>
                  <a:latin typeface="Space Mono"/>
                  <a:ea typeface="Space Mono"/>
                  <a:cs typeface="Space Mono"/>
                  <a:sym typeface="Space Mono"/>
                </a:rPr>
                <a:t>DISASTER PAUSE</a:t>
              </a:r>
              <a:endParaRPr b="1" sz="630">
                <a:solidFill>
                  <a:srgbClr val="F59E0B"/>
                </a:solidFill>
                <a:latin typeface="Space Mono"/>
                <a:ea typeface="Space Mono"/>
                <a:cs typeface="Space Mono"/>
                <a:sym typeface="Space Mono"/>
              </a:endParaRPr>
            </a:p>
            <a:p>
              <a:pPr indent="0" lvl="0" marL="0" rtl="0" algn="l">
                <a:spcBef>
                  <a:spcPts val="600"/>
                </a:spcBef>
                <a:spcAft>
                  <a:spcPts val="0"/>
                </a:spcAft>
                <a:buNone/>
              </a:pPr>
              <a:r>
                <a:rPr b="1" lang="en" sz="2520">
                  <a:solidFill>
                    <a:srgbClr val="F0F4F8"/>
                  </a:solidFill>
                  <a:latin typeface="Space Mono"/>
                  <a:ea typeface="Space Mono"/>
                  <a:cs typeface="Space Mono"/>
                  <a:sym typeface="Space Mono"/>
                </a:rPr>
                <a:t>YIELD LOSS &gt;= 40%</a:t>
              </a:r>
              <a:endParaRPr b="1" sz="2520">
                <a:solidFill>
                  <a:srgbClr val="F0F4F8"/>
                </a:solidFill>
                <a:latin typeface="Space Mono"/>
                <a:ea typeface="Space Mono"/>
                <a:cs typeface="Space Mono"/>
                <a:sym typeface="Space Mono"/>
              </a:endParaRPr>
            </a:p>
          </p:txBody>
        </p:sp>
      </p:grpSp>
      <p:grpSp>
        <p:nvGrpSpPr>
          <p:cNvPr id="244" name="Google Shape;244;p19"/>
          <p:cNvGrpSpPr/>
          <p:nvPr/>
        </p:nvGrpSpPr>
        <p:grpSpPr>
          <a:xfrm>
            <a:off x="4762500" y="2667000"/>
            <a:ext cx="4000500" cy="1143000"/>
            <a:chOff x="0" y="0"/>
            <a:chExt cx="4000500" cy="1143000"/>
          </a:xfrm>
        </p:grpSpPr>
        <p:sp>
          <p:nvSpPr>
            <p:cNvPr id="245" name="Google Shape;245;p19"/>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19"/>
            <p:cNvSpPr/>
            <p:nvPr/>
          </p:nvSpPr>
          <p:spPr>
            <a:xfrm>
              <a:off x="0" y="0"/>
              <a:ext cx="38100" cy="11430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19"/>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19"/>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19"/>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765">
                  <a:solidFill>
                    <a:srgbClr val="06B6D4"/>
                  </a:solidFill>
                  <a:latin typeface="Space Mono"/>
                  <a:ea typeface="Space Mono"/>
                  <a:cs typeface="Space Mono"/>
                  <a:sym typeface="Space Mono"/>
                </a:rPr>
                <a:t>INTEREST RATE</a:t>
              </a:r>
              <a:endParaRPr b="1" sz="765">
                <a:solidFill>
                  <a:srgbClr val="06B6D4"/>
                </a:solidFill>
                <a:latin typeface="Space Mono"/>
                <a:ea typeface="Space Mono"/>
                <a:cs typeface="Space Mono"/>
                <a:sym typeface="Space Mono"/>
              </a:endParaRPr>
            </a:p>
            <a:p>
              <a:pPr indent="0" lvl="0" marL="0" rtl="0" algn="l">
                <a:spcBef>
                  <a:spcPts val="600"/>
                </a:spcBef>
                <a:spcAft>
                  <a:spcPts val="0"/>
                </a:spcAft>
                <a:buNone/>
              </a:pPr>
              <a:r>
                <a:rPr b="1" lang="en" sz="3060">
                  <a:solidFill>
                    <a:srgbClr val="06B6D4"/>
                  </a:solidFill>
                  <a:latin typeface="Space Mono"/>
                  <a:ea typeface="Space Mono"/>
                  <a:cs typeface="Space Mono"/>
                  <a:sym typeface="Space Mono"/>
                </a:rPr>
                <a:t>0.00% COMPOUND</a:t>
              </a:r>
              <a:endParaRPr b="1" sz="3060">
                <a:solidFill>
                  <a:srgbClr val="06B6D4"/>
                </a:solidFill>
                <a:latin typeface="Space Mono"/>
                <a:ea typeface="Space Mono"/>
                <a:cs typeface="Space Mono"/>
                <a:sym typeface="Space Mono"/>
              </a:endParaRPr>
            </a:p>
          </p:txBody>
        </p:sp>
      </p:grpSp>
      <p:grpSp>
        <p:nvGrpSpPr>
          <p:cNvPr id="250" name="Google Shape;250;p19"/>
          <p:cNvGrpSpPr/>
          <p:nvPr/>
        </p:nvGrpSpPr>
        <p:grpSpPr>
          <a:xfrm>
            <a:off x="6186488" y="3867150"/>
            <a:ext cx="1914600" cy="609600"/>
            <a:chOff x="-4762" y="-38100"/>
            <a:chExt cx="1914600" cy="609600"/>
          </a:xfrm>
        </p:grpSpPr>
        <p:pic>
          <p:nvPicPr>
            <p:cNvPr id="251" name="Google Shape;251;p19"/>
            <p:cNvPicPr preferRelativeResize="0"/>
            <p:nvPr/>
          </p:nvPicPr>
          <p:blipFill rotWithShape="1">
            <a:blip r:embed="rId3">
              <a:alphaModFix/>
            </a:blip>
            <a:srcRect b="0" l="0" r="0" t="0"/>
            <a:stretch/>
          </p:blipFill>
          <p:spPr>
            <a:xfrm>
              <a:off x="-4762" y="-9525"/>
              <a:ext cx="1914600" cy="400200"/>
            </a:xfrm>
            <a:prstGeom prst="rect">
              <a:avLst/>
            </a:prstGeom>
            <a:noFill/>
            <a:ln>
              <a:noFill/>
            </a:ln>
          </p:spPr>
        </p:pic>
        <p:pic>
          <p:nvPicPr>
            <p:cNvPr id="252" name="Google Shape;252;p19"/>
            <p:cNvPicPr preferRelativeResize="0"/>
            <p:nvPr/>
          </p:nvPicPr>
          <p:blipFill rotWithShape="1">
            <a:blip r:embed="rId4">
              <a:alphaModFix/>
            </a:blip>
            <a:srcRect b="0" l="0" r="0" t="0"/>
            <a:stretch/>
          </p:blipFill>
          <p:spPr>
            <a:xfrm>
              <a:off x="447675" y="66675"/>
              <a:ext cx="57300" cy="57300"/>
            </a:xfrm>
            <a:prstGeom prst="rect">
              <a:avLst/>
            </a:prstGeom>
            <a:noFill/>
            <a:ln>
              <a:noFill/>
            </a:ln>
          </p:spPr>
        </p:pic>
        <p:pic>
          <p:nvPicPr>
            <p:cNvPr id="253" name="Google Shape;253;p19"/>
            <p:cNvPicPr preferRelativeResize="0"/>
            <p:nvPr/>
          </p:nvPicPr>
          <p:blipFill rotWithShape="1">
            <a:blip r:embed="rId5">
              <a:alphaModFix/>
            </a:blip>
            <a:srcRect b="0" l="0" r="0" t="0"/>
            <a:stretch/>
          </p:blipFill>
          <p:spPr>
            <a:xfrm>
              <a:off x="1390650" y="-38100"/>
              <a:ext cx="76200" cy="76200"/>
            </a:xfrm>
            <a:prstGeom prst="rect">
              <a:avLst/>
            </a:prstGeom>
            <a:noFill/>
            <a:ln>
              <a:noFill/>
            </a:ln>
          </p:spPr>
        </p:pic>
        <p:pic>
          <p:nvPicPr>
            <p:cNvPr id="254" name="Google Shape;254;p19"/>
            <p:cNvPicPr preferRelativeResize="0"/>
            <p:nvPr/>
          </p:nvPicPr>
          <p:blipFill rotWithShape="1">
            <a:blip r:embed="rId6">
              <a:alphaModFix/>
            </a:blip>
            <a:srcRect b="0" l="0" r="0" t="0"/>
            <a:stretch/>
          </p:blipFill>
          <p:spPr>
            <a:xfrm>
              <a:off x="471488" y="0"/>
              <a:ext cx="962100" cy="571500"/>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0"/>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60" name="Google Shape;260;p20"/>
          <p:cNvGrpSpPr/>
          <p:nvPr/>
        </p:nvGrpSpPr>
        <p:grpSpPr>
          <a:xfrm>
            <a:off x="0" y="0"/>
            <a:ext cx="9144000" cy="5143500"/>
            <a:chOff x="0" y="0"/>
            <a:chExt cx="9144000" cy="5143500"/>
          </a:xfrm>
        </p:grpSpPr>
        <p:sp>
          <p:nvSpPr>
            <p:cNvPr id="261" name="Google Shape;261;p20"/>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20"/>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63" name="Google Shape;263;p20"/>
          <p:cNvGrpSpPr/>
          <p:nvPr/>
        </p:nvGrpSpPr>
        <p:grpSpPr>
          <a:xfrm>
            <a:off x="381000" y="142875"/>
            <a:ext cx="8382000" cy="247575"/>
            <a:chOff x="381000" y="142875"/>
            <a:chExt cx="8382000" cy="247575"/>
          </a:xfrm>
        </p:grpSpPr>
        <p:sp>
          <p:nvSpPr>
            <p:cNvPr id="264" name="Google Shape;264;p20"/>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20"/>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0"/>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267" name="Google Shape;267;p20"/>
          <p:cNvGrpSpPr/>
          <p:nvPr/>
        </p:nvGrpSpPr>
        <p:grpSpPr>
          <a:xfrm>
            <a:off x="381000" y="4848225"/>
            <a:ext cx="8382000" cy="247650"/>
            <a:chOff x="381000" y="4848225"/>
            <a:chExt cx="8382000" cy="247650"/>
          </a:xfrm>
        </p:grpSpPr>
        <p:sp>
          <p:nvSpPr>
            <p:cNvPr id="268" name="Google Shape;268;p20"/>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20"/>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20"/>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2026-OCT-12 // SYS.VERIFIED</a:t>
              </a:r>
              <a:endParaRPr b="0" sz="750">
                <a:solidFill>
                  <a:srgbClr val="94A3B8"/>
                </a:solidFill>
                <a:latin typeface="Space Mono"/>
                <a:ea typeface="Space Mono"/>
                <a:cs typeface="Space Mono"/>
                <a:sym typeface="Space Mono"/>
              </a:endParaRPr>
            </a:p>
          </p:txBody>
        </p:sp>
      </p:grpSp>
      <p:sp>
        <p:nvSpPr>
          <p:cNvPr id="271" name="Google Shape;271;p20"/>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943">
                <a:solidFill>
                  <a:srgbClr val="F0F4F8"/>
                </a:solidFill>
                <a:latin typeface="Inter"/>
                <a:ea typeface="Inter"/>
                <a:cs typeface="Inter"/>
                <a:sym typeface="Inter"/>
              </a:rPr>
              <a:t>Physical Reserve Baselines per 600 Citizens (Cohesive Village Unit)</a:t>
            </a:r>
            <a:endParaRPr b="1" sz="1943">
              <a:solidFill>
                <a:srgbClr val="F0F4F8"/>
              </a:solidFill>
              <a:latin typeface="Inter"/>
              <a:ea typeface="Inter"/>
              <a:cs typeface="Inter"/>
              <a:sym typeface="Inter"/>
            </a:endParaRPr>
          </a:p>
        </p:txBody>
      </p:sp>
      <p:sp>
        <p:nvSpPr>
          <p:cNvPr id="272" name="Google Shape;272;p20"/>
          <p:cNvSpPr txBox="1"/>
          <p:nvPr/>
        </p:nvSpPr>
        <p:spPr>
          <a:xfrm>
            <a:off x="381000" y="1333500"/>
            <a:ext cx="40005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94A3B8"/>
                </a:solidFill>
                <a:latin typeface="Inter"/>
                <a:ea typeface="Inter"/>
                <a:cs typeface="Inter"/>
                <a:sym typeface="Inter"/>
              </a:rPr>
              <a:t>Table 4.1 outlines minimum physical reserve baselines per 600 citizens.</a:t>
            </a:r>
            <a:endParaRPr b="0" sz="1050">
              <a:solidFill>
                <a:srgbClr val="94A3B8"/>
              </a:solidFill>
              <a:latin typeface="Inter"/>
              <a:ea typeface="Inter"/>
              <a:cs typeface="Inter"/>
              <a:sym typeface="Inter"/>
            </a:endParaRPr>
          </a:p>
          <a:p>
            <a:pPr indent="-317500" lvl="0" marL="457200" rtl="0" algn="l">
              <a:spcBef>
                <a:spcPts val="900"/>
              </a:spcBef>
              <a:spcAft>
                <a:spcPts val="0"/>
              </a:spcAft>
              <a:buSzPts val="1400"/>
              <a:buChar char="●"/>
            </a:pPr>
            <a:r>
              <a:rPr b="1" lang="en" sz="1050">
                <a:solidFill>
                  <a:srgbClr val="F0F4F8"/>
                </a:solidFill>
                <a:latin typeface="Inter"/>
                <a:ea typeface="Inter"/>
                <a:cs typeface="Inter"/>
                <a:sym typeface="Inter"/>
              </a:rPr>
              <a:t>Milling Wheat:</a:t>
            </a:r>
            <a:r>
              <a:rPr b="0" lang="en" sz="1050">
                <a:solidFill>
                  <a:srgbClr val="94A3B8"/>
                </a:solidFill>
                <a:latin typeface="Inter"/>
                <a:ea typeface="Inter"/>
                <a:cs typeface="Inter"/>
                <a:sym typeface="Inter"/>
              </a:rPr>
              <a:t> 26 to 52 weeks (546 to 1,092 tonnes).</a:t>
            </a:r>
            <a:endParaRPr b="0" sz="1050">
              <a:solidFill>
                <a:srgbClr val="94A3B8"/>
              </a:solidFill>
              <a:latin typeface="Inter"/>
              <a:ea typeface="Inter"/>
              <a:cs typeface="Inter"/>
              <a:sym typeface="Inter"/>
            </a:endParaRPr>
          </a:p>
          <a:p>
            <a:pPr indent="-317500" lvl="0" marL="457200" rtl="0" algn="l">
              <a:spcBef>
                <a:spcPts val="900"/>
              </a:spcBef>
              <a:spcAft>
                <a:spcPts val="0"/>
              </a:spcAft>
              <a:buSzPts val="1400"/>
              <a:buChar char="●"/>
            </a:pPr>
            <a:r>
              <a:rPr b="1" lang="en" sz="1050">
                <a:solidFill>
                  <a:srgbClr val="F0F4F8"/>
                </a:solidFill>
                <a:latin typeface="Inter"/>
                <a:ea typeface="Inter"/>
                <a:cs typeface="Inter"/>
                <a:sym typeface="Inter"/>
              </a:rPr>
              <a:t>Microgrid BESS:</a:t>
            </a:r>
            <a:r>
              <a:rPr b="0" lang="en" sz="1050">
                <a:solidFill>
                  <a:srgbClr val="94A3B8"/>
                </a:solidFill>
                <a:latin typeface="Inter"/>
                <a:ea typeface="Inter"/>
                <a:cs typeface="Inter"/>
                <a:sym typeface="Inter"/>
              </a:rPr>
              <a:t> 48 hours autonomous power (21.4 MWh).</a:t>
            </a:r>
            <a:endParaRPr b="0" sz="1050">
              <a:solidFill>
                <a:srgbClr val="94A3B8"/>
              </a:solidFill>
              <a:latin typeface="Inter"/>
              <a:ea typeface="Inter"/>
              <a:cs typeface="Inter"/>
              <a:sym typeface="Inter"/>
            </a:endParaRPr>
          </a:p>
          <a:p>
            <a:pPr indent="-317500" lvl="0" marL="457200" rtl="0" algn="l">
              <a:spcBef>
                <a:spcPts val="900"/>
              </a:spcBef>
              <a:spcAft>
                <a:spcPts val="0"/>
              </a:spcAft>
              <a:buSzPts val="1400"/>
              <a:buChar char="●"/>
            </a:pPr>
            <a:r>
              <a:rPr b="1" lang="en" sz="1050">
                <a:solidFill>
                  <a:srgbClr val="F0F4F8"/>
                </a:solidFill>
                <a:latin typeface="Inter"/>
                <a:ea typeface="Inter"/>
                <a:cs typeface="Inter"/>
                <a:sym typeface="Inter"/>
              </a:rPr>
              <a:t>Potable Water:</a:t>
            </a:r>
            <a:r>
              <a:rPr b="0" lang="en" sz="1050">
                <a:solidFill>
                  <a:srgbClr val="94A3B8"/>
                </a:solidFill>
                <a:latin typeface="Inter"/>
                <a:ea typeface="Inter"/>
                <a:cs typeface="Inter"/>
                <a:sym typeface="Inter"/>
              </a:rPr>
              <a:t> 52 weeks residential demand (436.8 ML).</a:t>
            </a:r>
            <a:endParaRPr b="0" sz="1050">
              <a:solidFill>
                <a:srgbClr val="94A3B8"/>
              </a:solidFill>
              <a:latin typeface="Inter"/>
              <a:ea typeface="Inter"/>
              <a:cs typeface="Inter"/>
              <a:sym typeface="Inter"/>
            </a:endParaRPr>
          </a:p>
          <a:p>
            <a:pPr indent="-317500" lvl="0" marL="457200" rtl="0" algn="l">
              <a:spcBef>
                <a:spcPts val="900"/>
              </a:spcBef>
              <a:spcAft>
                <a:spcPts val="0"/>
              </a:spcAft>
              <a:buSzPts val="1400"/>
              <a:buChar char="●"/>
            </a:pPr>
            <a:r>
              <a:rPr b="1" lang="en" sz="1050">
                <a:solidFill>
                  <a:srgbClr val="F0F4F8"/>
                </a:solidFill>
                <a:latin typeface="Inter"/>
                <a:ea typeface="Inter"/>
                <a:cs typeface="Inter"/>
                <a:sym typeface="Inter"/>
              </a:rPr>
              <a:t>Emergency Shelter:</a:t>
            </a:r>
            <a:r>
              <a:rPr b="0" lang="en" sz="1050">
                <a:solidFill>
                  <a:srgbClr val="94A3B8"/>
                </a:solidFill>
                <a:latin typeface="Inter"/>
                <a:ea typeface="Inter"/>
                <a:cs typeface="Inter"/>
                <a:sym typeface="Inter"/>
              </a:rPr>
              <a:t> 50 passive-solar units with composting sanitation.</a:t>
            </a:r>
            <a:endParaRPr b="0" sz="1050">
              <a:solidFill>
                <a:srgbClr val="94A3B8"/>
              </a:solidFill>
              <a:latin typeface="Inter"/>
              <a:ea typeface="Inter"/>
              <a:cs typeface="Inter"/>
              <a:sym typeface="Inter"/>
            </a:endParaRPr>
          </a:p>
          <a:p>
            <a:pPr indent="-317500" lvl="0" marL="457200" rtl="0" algn="l">
              <a:spcBef>
                <a:spcPts val="900"/>
              </a:spcBef>
              <a:spcAft>
                <a:spcPts val="900"/>
              </a:spcAft>
              <a:buSzPts val="1400"/>
              <a:buChar char="●"/>
            </a:pPr>
            <a:r>
              <a:rPr b="1" lang="en" sz="1050">
                <a:solidFill>
                  <a:srgbClr val="F0F4F8"/>
                </a:solidFill>
                <a:latin typeface="Inter"/>
                <a:ea typeface="Inter"/>
                <a:cs typeface="Inter"/>
                <a:sym typeface="Inter"/>
              </a:rPr>
              <a:t>Harvest Ingest:</a:t>
            </a:r>
            <a:r>
              <a:rPr b="0" lang="en" sz="1050">
                <a:solidFill>
                  <a:srgbClr val="94A3B8"/>
                </a:solidFill>
                <a:latin typeface="Inter"/>
                <a:ea typeface="Inter"/>
                <a:cs typeface="Inter"/>
                <a:sym typeface="Inter"/>
              </a:rPr>
              <a:t> Mandatory 15% allocation from bumper harvests to replenish local reserves.</a:t>
            </a:r>
            <a:endParaRPr b="0" sz="1050">
              <a:solidFill>
                <a:srgbClr val="94A3B8"/>
              </a:solidFill>
              <a:latin typeface="Inter"/>
              <a:ea typeface="Inter"/>
              <a:cs typeface="Inter"/>
              <a:sym typeface="Inter"/>
            </a:endParaRPr>
          </a:p>
        </p:txBody>
      </p:sp>
      <p:grpSp>
        <p:nvGrpSpPr>
          <p:cNvPr id="273" name="Google Shape;273;p20"/>
          <p:cNvGrpSpPr/>
          <p:nvPr/>
        </p:nvGrpSpPr>
        <p:grpSpPr>
          <a:xfrm>
            <a:off x="4762500" y="1333500"/>
            <a:ext cx="4000500" cy="762000"/>
            <a:chOff x="0" y="0"/>
            <a:chExt cx="4000500" cy="762000"/>
          </a:xfrm>
        </p:grpSpPr>
        <p:sp>
          <p:nvSpPr>
            <p:cNvPr id="274" name="Google Shape;274;p20"/>
            <p:cNvSpPr/>
            <p:nvPr/>
          </p:nvSpPr>
          <p:spPr>
            <a:xfrm>
              <a:off x="0" y="0"/>
              <a:ext cx="4000500" cy="762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0"/>
            <p:cNvSpPr/>
            <p:nvPr/>
          </p:nvSpPr>
          <p:spPr>
            <a:xfrm>
              <a:off x="152400" y="381000"/>
              <a:ext cx="3695700" cy="762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20"/>
            <p:cNvSpPr/>
            <p:nvPr/>
          </p:nvSpPr>
          <p:spPr>
            <a:xfrm>
              <a:off x="152400" y="381000"/>
              <a:ext cx="2952900" cy="762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0"/>
            <p:cNvSpPr txBox="1"/>
            <p:nvPr/>
          </p:nvSpPr>
          <p:spPr>
            <a:xfrm>
              <a:off x="152400" y="114300"/>
              <a:ext cx="190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F59E0B"/>
                  </a:solidFill>
                  <a:latin typeface="Space Mono"/>
                  <a:ea typeface="Space Mono"/>
                  <a:cs typeface="Space Mono"/>
                  <a:sym typeface="Space Mono"/>
                </a:rPr>
                <a:t>MILLING WHEAT RSRV</a:t>
              </a:r>
              <a:endParaRPr b="1" sz="900">
                <a:solidFill>
                  <a:srgbClr val="F59E0B"/>
                </a:solidFill>
                <a:latin typeface="Space Mono"/>
                <a:ea typeface="Space Mono"/>
                <a:cs typeface="Space Mono"/>
                <a:sym typeface="Space Mono"/>
              </a:endParaRPr>
            </a:p>
          </p:txBody>
        </p:sp>
        <p:sp>
          <p:nvSpPr>
            <p:cNvPr id="278" name="Google Shape;278;p20"/>
            <p:cNvSpPr txBox="1"/>
            <p:nvPr/>
          </p:nvSpPr>
          <p:spPr>
            <a:xfrm>
              <a:off x="2095500" y="114300"/>
              <a:ext cx="17526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 sz="900">
                  <a:solidFill>
                    <a:srgbClr val="F0F4F8"/>
                  </a:solidFill>
                  <a:latin typeface="Space Mono"/>
                  <a:ea typeface="Space Mono"/>
                  <a:cs typeface="Space Mono"/>
                  <a:sym typeface="Space Mono"/>
                </a:rPr>
                <a:t>546 - 1092 TONNES</a:t>
              </a:r>
              <a:endParaRPr b="1" sz="900">
                <a:solidFill>
                  <a:srgbClr val="F0F4F8"/>
                </a:solidFill>
                <a:latin typeface="Space Mono"/>
                <a:ea typeface="Space Mono"/>
                <a:cs typeface="Space Mono"/>
                <a:sym typeface="Space Mono"/>
              </a:endParaRPr>
            </a:p>
          </p:txBody>
        </p:sp>
        <p:sp>
          <p:nvSpPr>
            <p:cNvPr id="279" name="Google Shape;279;p20"/>
            <p:cNvSpPr txBox="1"/>
            <p:nvPr/>
          </p:nvSpPr>
          <p:spPr>
            <a:xfrm>
              <a:off x="152400" y="533400"/>
              <a:ext cx="36957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TARGET: 26-52 WEEKS // 600 CITIZEN UNIT</a:t>
              </a:r>
              <a:endParaRPr b="0" sz="750">
                <a:solidFill>
                  <a:srgbClr val="94A3B8"/>
                </a:solidFill>
                <a:latin typeface="Space Mono"/>
                <a:ea typeface="Space Mono"/>
                <a:cs typeface="Space Mono"/>
                <a:sym typeface="Space Mono"/>
              </a:endParaRPr>
            </a:p>
          </p:txBody>
        </p:sp>
      </p:grpSp>
      <p:grpSp>
        <p:nvGrpSpPr>
          <p:cNvPr id="280" name="Google Shape;280;p20"/>
          <p:cNvGrpSpPr/>
          <p:nvPr/>
        </p:nvGrpSpPr>
        <p:grpSpPr>
          <a:xfrm>
            <a:off x="4762500" y="2286000"/>
            <a:ext cx="4000500" cy="762000"/>
            <a:chOff x="0" y="0"/>
            <a:chExt cx="4000500" cy="762000"/>
          </a:xfrm>
        </p:grpSpPr>
        <p:sp>
          <p:nvSpPr>
            <p:cNvPr id="281" name="Google Shape;281;p20"/>
            <p:cNvSpPr/>
            <p:nvPr/>
          </p:nvSpPr>
          <p:spPr>
            <a:xfrm>
              <a:off x="0" y="0"/>
              <a:ext cx="4000500" cy="762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20"/>
            <p:cNvSpPr/>
            <p:nvPr/>
          </p:nvSpPr>
          <p:spPr>
            <a:xfrm>
              <a:off x="152400" y="381000"/>
              <a:ext cx="3695700" cy="762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0"/>
            <p:cNvSpPr/>
            <p:nvPr/>
          </p:nvSpPr>
          <p:spPr>
            <a:xfrm>
              <a:off x="152400" y="381000"/>
              <a:ext cx="3695700" cy="762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0"/>
            <p:cNvSpPr txBox="1"/>
            <p:nvPr/>
          </p:nvSpPr>
          <p:spPr>
            <a:xfrm>
              <a:off x="152400" y="114300"/>
              <a:ext cx="190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6B6D4"/>
                  </a:solidFill>
                  <a:latin typeface="Space Mono"/>
                  <a:ea typeface="Space Mono"/>
                  <a:cs typeface="Space Mono"/>
                  <a:sym typeface="Space Mono"/>
                </a:rPr>
                <a:t>POTABLE WATER RSRV</a:t>
              </a:r>
              <a:endParaRPr b="1" sz="900">
                <a:solidFill>
                  <a:srgbClr val="06B6D4"/>
                </a:solidFill>
                <a:latin typeface="Space Mono"/>
                <a:ea typeface="Space Mono"/>
                <a:cs typeface="Space Mono"/>
                <a:sym typeface="Space Mono"/>
              </a:endParaRPr>
            </a:p>
          </p:txBody>
        </p:sp>
        <p:sp>
          <p:nvSpPr>
            <p:cNvPr id="285" name="Google Shape;285;p20"/>
            <p:cNvSpPr txBox="1"/>
            <p:nvPr/>
          </p:nvSpPr>
          <p:spPr>
            <a:xfrm>
              <a:off x="2095500" y="114300"/>
              <a:ext cx="17526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 sz="900">
                  <a:solidFill>
                    <a:srgbClr val="F0F4F8"/>
                  </a:solidFill>
                  <a:latin typeface="Space Mono"/>
                  <a:ea typeface="Space Mono"/>
                  <a:cs typeface="Space Mono"/>
                  <a:sym typeface="Space Mono"/>
                </a:rPr>
                <a:t>436.8 ML</a:t>
              </a:r>
              <a:endParaRPr b="1" sz="900">
                <a:solidFill>
                  <a:srgbClr val="F0F4F8"/>
                </a:solidFill>
                <a:latin typeface="Space Mono"/>
                <a:ea typeface="Space Mono"/>
                <a:cs typeface="Space Mono"/>
                <a:sym typeface="Space Mono"/>
              </a:endParaRPr>
            </a:p>
          </p:txBody>
        </p:sp>
        <p:sp>
          <p:nvSpPr>
            <p:cNvPr id="286" name="Google Shape;286;p20"/>
            <p:cNvSpPr txBox="1"/>
            <p:nvPr/>
          </p:nvSpPr>
          <p:spPr>
            <a:xfrm>
              <a:off x="152400" y="533400"/>
              <a:ext cx="36957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TARGET: 52 WEEKS // 600 CITIZEN UNIT</a:t>
              </a:r>
              <a:endParaRPr b="0" sz="750">
                <a:solidFill>
                  <a:srgbClr val="94A3B8"/>
                </a:solidFill>
                <a:latin typeface="Space Mono"/>
                <a:ea typeface="Space Mono"/>
                <a:cs typeface="Space Mono"/>
                <a:sym typeface="Space Mono"/>
              </a:endParaRPr>
            </a:p>
          </p:txBody>
        </p:sp>
      </p:grpSp>
      <p:grpSp>
        <p:nvGrpSpPr>
          <p:cNvPr id="287" name="Google Shape;287;p20"/>
          <p:cNvGrpSpPr/>
          <p:nvPr/>
        </p:nvGrpSpPr>
        <p:grpSpPr>
          <a:xfrm>
            <a:off x="6662738" y="3581400"/>
            <a:ext cx="1914600" cy="647700"/>
            <a:chOff x="-4762" y="152400"/>
            <a:chExt cx="1914600" cy="647700"/>
          </a:xfrm>
        </p:grpSpPr>
        <p:pic>
          <p:nvPicPr>
            <p:cNvPr id="288" name="Google Shape;288;p20"/>
            <p:cNvPicPr preferRelativeResize="0"/>
            <p:nvPr/>
          </p:nvPicPr>
          <p:blipFill rotWithShape="1">
            <a:blip r:embed="rId3">
              <a:alphaModFix/>
            </a:blip>
            <a:srcRect b="0" l="0" r="0" t="0"/>
            <a:stretch/>
          </p:blipFill>
          <p:spPr>
            <a:xfrm>
              <a:off x="-4762" y="176213"/>
              <a:ext cx="1914600" cy="600000"/>
            </a:xfrm>
            <a:prstGeom prst="rect">
              <a:avLst/>
            </a:prstGeom>
            <a:noFill/>
            <a:ln>
              <a:noFill/>
            </a:ln>
          </p:spPr>
        </p:pic>
        <p:pic>
          <p:nvPicPr>
            <p:cNvPr id="289" name="Google Shape;289;p20"/>
            <p:cNvPicPr preferRelativeResize="0"/>
            <p:nvPr/>
          </p:nvPicPr>
          <p:blipFill rotWithShape="1">
            <a:blip r:embed="rId4">
              <a:alphaModFix/>
            </a:blip>
            <a:srcRect b="0" l="0" r="0" t="0"/>
            <a:stretch/>
          </p:blipFill>
          <p:spPr>
            <a:xfrm>
              <a:off x="438150" y="152400"/>
              <a:ext cx="76200" cy="76200"/>
            </a:xfrm>
            <a:prstGeom prst="rect">
              <a:avLst/>
            </a:prstGeom>
            <a:noFill/>
            <a:ln>
              <a:noFill/>
            </a:ln>
          </p:spPr>
        </p:pic>
        <p:pic>
          <p:nvPicPr>
            <p:cNvPr id="290" name="Google Shape;290;p20"/>
            <p:cNvPicPr preferRelativeResize="0"/>
            <p:nvPr/>
          </p:nvPicPr>
          <p:blipFill rotWithShape="1">
            <a:blip r:embed="rId4">
              <a:alphaModFix/>
            </a:blip>
            <a:srcRect b="0" l="0" r="0" t="0"/>
            <a:stretch/>
          </p:blipFill>
          <p:spPr>
            <a:xfrm>
              <a:off x="914400" y="723900"/>
              <a:ext cx="76200" cy="76200"/>
            </a:xfrm>
            <a:prstGeom prst="rect">
              <a:avLst/>
            </a:prstGeom>
            <a:noFill/>
            <a:ln>
              <a:noFill/>
            </a:ln>
          </p:spPr>
        </p:pic>
        <p:pic>
          <p:nvPicPr>
            <p:cNvPr id="291" name="Google Shape;291;p20"/>
            <p:cNvPicPr preferRelativeResize="0"/>
            <p:nvPr/>
          </p:nvPicPr>
          <p:blipFill rotWithShape="1">
            <a:blip r:embed="rId4">
              <a:alphaModFix/>
            </a:blip>
            <a:srcRect b="0" l="0" r="0" t="0"/>
            <a:stretch/>
          </p:blipFill>
          <p:spPr>
            <a:xfrm>
              <a:off x="1390650" y="342900"/>
              <a:ext cx="76200" cy="76200"/>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grpSp>
        <p:nvGrpSpPr>
          <p:cNvPr id="296" name="Google Shape;296;p21"/>
          <p:cNvGrpSpPr/>
          <p:nvPr/>
        </p:nvGrpSpPr>
        <p:grpSpPr>
          <a:xfrm>
            <a:off x="0" y="0"/>
            <a:ext cx="9144000" cy="5143500"/>
            <a:chOff x="0" y="0"/>
            <a:chExt cx="9144000" cy="5143500"/>
          </a:xfrm>
        </p:grpSpPr>
        <p:sp>
          <p:nvSpPr>
            <p:cNvPr id="297" name="Google Shape;297;p21"/>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21"/>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1"/>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00" name="Google Shape;300;p21"/>
          <p:cNvGrpSpPr/>
          <p:nvPr/>
        </p:nvGrpSpPr>
        <p:grpSpPr>
          <a:xfrm>
            <a:off x="381000" y="142875"/>
            <a:ext cx="8382000" cy="247575"/>
            <a:chOff x="381000" y="142875"/>
            <a:chExt cx="8382000" cy="247575"/>
          </a:xfrm>
        </p:grpSpPr>
        <p:sp>
          <p:nvSpPr>
            <p:cNvPr id="301" name="Google Shape;301;p21"/>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1"/>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1"/>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304" name="Google Shape;304;p21"/>
          <p:cNvGrpSpPr/>
          <p:nvPr/>
        </p:nvGrpSpPr>
        <p:grpSpPr>
          <a:xfrm>
            <a:off x="381000" y="4848225"/>
            <a:ext cx="8382000" cy="247650"/>
            <a:chOff x="381000" y="4848225"/>
            <a:chExt cx="8382000" cy="247650"/>
          </a:xfrm>
        </p:grpSpPr>
        <p:sp>
          <p:nvSpPr>
            <p:cNvPr id="305" name="Google Shape;305;p21"/>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1"/>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21"/>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2026-05-24 // SYS.VERIFIED</a:t>
              </a:r>
              <a:endParaRPr b="0" sz="750">
                <a:solidFill>
                  <a:srgbClr val="94A3B8"/>
                </a:solidFill>
                <a:latin typeface="Space Mono"/>
                <a:ea typeface="Space Mono"/>
                <a:cs typeface="Space Mono"/>
                <a:sym typeface="Space Mono"/>
              </a:endParaRPr>
            </a:p>
          </p:txBody>
        </p:sp>
      </p:grpSp>
      <p:sp>
        <p:nvSpPr>
          <p:cNvPr id="308" name="Google Shape;308;p21"/>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100">
                <a:solidFill>
                  <a:srgbClr val="F0F4F8"/>
                </a:solidFill>
                <a:latin typeface="Inter"/>
                <a:ea typeface="Inter"/>
                <a:cs typeface="Inter"/>
                <a:sym typeface="Inter"/>
              </a:rPr>
              <a:t>Inter-Regional Commodity Resilience Across 10 Regional Hubs</a:t>
            </a:r>
            <a:endParaRPr b="1" sz="2100">
              <a:solidFill>
                <a:srgbClr val="F0F4F8"/>
              </a:solidFill>
              <a:latin typeface="Inter"/>
              <a:ea typeface="Inter"/>
              <a:cs typeface="Inter"/>
              <a:sym typeface="Inter"/>
            </a:endParaRPr>
          </a:p>
        </p:txBody>
      </p:sp>
      <p:sp>
        <p:nvSpPr>
          <p:cNvPr id="309" name="Google Shape;309;p21"/>
          <p:cNvSpPr txBox="1"/>
          <p:nvPr/>
        </p:nvSpPr>
        <p:spPr>
          <a:xfrm>
            <a:off x="381000" y="1333500"/>
            <a:ext cx="40005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94A3B8"/>
                </a:solidFill>
                <a:latin typeface="Inter"/>
                <a:ea typeface="Inter"/>
                <a:cs typeface="Inter"/>
                <a:sym typeface="Inter"/>
              </a:rPr>
              <a:t>The Multi-Shire Joint Powers Alliance utilizes mathematical balancing to ensure inter-regional resilience.</a:t>
            </a:r>
            <a:endParaRPr b="0" sz="1050">
              <a:solidFill>
                <a:srgbClr val="94A3B8"/>
              </a:solidFill>
              <a:latin typeface="Inter"/>
              <a:ea typeface="Inter"/>
              <a:cs typeface="Inter"/>
              <a:sym typeface="Inter"/>
            </a:endParaRPr>
          </a:p>
          <a:p>
            <a:pPr indent="-317500" lvl="0" marL="457200" rtl="0" algn="l">
              <a:spcBef>
                <a:spcPts val="1200"/>
              </a:spcBef>
              <a:spcAft>
                <a:spcPts val="0"/>
              </a:spcAft>
              <a:buClr>
                <a:srgbClr val="06B6D4"/>
              </a:buClr>
              <a:buSzPts val="1400"/>
              <a:buChar char="●"/>
            </a:pPr>
            <a:r>
              <a:rPr b="1" lang="en" sz="1050">
                <a:solidFill>
                  <a:srgbClr val="F0F4F8"/>
                </a:solidFill>
                <a:latin typeface="Inter"/>
                <a:ea typeface="Inter"/>
                <a:cs typeface="Inter"/>
                <a:sym typeface="Inter"/>
              </a:rPr>
              <a:t>10-Node Regional Network:</a:t>
            </a:r>
            <a:r>
              <a:rPr b="0" lang="en" sz="1050">
                <a:solidFill>
                  <a:srgbClr val="94A3B8"/>
                </a:solidFill>
                <a:latin typeface="Inter"/>
                <a:ea typeface="Inter"/>
                <a:cs typeface="Inter"/>
                <a:sym typeface="Inter"/>
              </a:rPr>
              <a:t> Coonabarabran, Gilgandra, Gunnedah, Narrabri, Dubbo, Mudgee, Tamworth, Warren, Walgett, Moree.</a:t>
            </a:r>
            <a:endParaRPr b="0" sz="1050">
              <a:solidFill>
                <a:srgbClr val="94A3B8"/>
              </a:solidFill>
              <a:latin typeface="Inter"/>
              <a:ea typeface="Inter"/>
              <a:cs typeface="Inter"/>
              <a:sym typeface="Inter"/>
            </a:endParaRPr>
          </a:p>
          <a:p>
            <a:pPr indent="-317500" lvl="0" marL="457200" rtl="0" algn="l">
              <a:spcBef>
                <a:spcPts val="900"/>
              </a:spcBef>
              <a:spcAft>
                <a:spcPts val="0"/>
              </a:spcAft>
              <a:buClr>
                <a:srgbClr val="06B6D4"/>
              </a:buClr>
              <a:buSzPts val="1400"/>
              <a:buChar char="●"/>
            </a:pPr>
            <a:r>
              <a:rPr b="1" lang="en" sz="1050">
                <a:solidFill>
                  <a:srgbClr val="F0F4F8"/>
                </a:solidFill>
                <a:latin typeface="Inter"/>
                <a:ea typeface="Inter"/>
                <a:cs typeface="Inter"/>
                <a:sym typeface="Inter"/>
              </a:rPr>
              <a:t>Inter-Sovereign Trade Tensor (Xi_trade):</a:t>
            </a:r>
            <a:r>
              <a:rPr b="0" lang="en" sz="1050">
                <a:solidFill>
                  <a:srgbClr val="94A3B8"/>
                </a:solidFill>
                <a:latin typeface="Inter"/>
                <a:ea typeface="Inter"/>
                <a:cs typeface="Inter"/>
                <a:sym typeface="Inter"/>
              </a:rPr>
              <a:t> Automatically balances bilateral trade based on physical carrying capacities and difficulty tokens.</a:t>
            </a:r>
            <a:endParaRPr b="0" sz="1050">
              <a:solidFill>
                <a:srgbClr val="94A3B8"/>
              </a:solidFill>
              <a:latin typeface="Inter"/>
              <a:ea typeface="Inter"/>
              <a:cs typeface="Inter"/>
              <a:sym typeface="Inter"/>
            </a:endParaRPr>
          </a:p>
          <a:p>
            <a:pPr indent="-317500" lvl="0" marL="457200" rtl="0" algn="l">
              <a:spcBef>
                <a:spcPts val="900"/>
              </a:spcBef>
              <a:spcAft>
                <a:spcPts val="900"/>
              </a:spcAft>
              <a:buClr>
                <a:srgbClr val="06B6D4"/>
              </a:buClr>
              <a:buSzPts val="1400"/>
              <a:buChar char="●"/>
            </a:pPr>
            <a:r>
              <a:rPr b="1" lang="en" sz="1050">
                <a:solidFill>
                  <a:srgbClr val="F0F4F8"/>
                </a:solidFill>
                <a:latin typeface="Inter"/>
                <a:ea typeface="Inter"/>
                <a:cs typeface="Inter"/>
                <a:sym typeface="Inter"/>
              </a:rPr>
              <a:t>Coupled Multi-Commodity Dispatch:</a:t>
            </a:r>
            <a:r>
              <a:rPr b="0" lang="en" sz="1050">
                <a:solidFill>
                  <a:srgbClr val="94A3B8"/>
                </a:solidFill>
                <a:latin typeface="Inter"/>
                <a:ea typeface="Inter"/>
                <a:cs typeface="Inter"/>
                <a:sym typeface="Inter"/>
              </a:rPr>
              <a:t> Linear programming optimization routing grain, water, and power over highway links.</a:t>
            </a:r>
            <a:endParaRPr b="0" sz="1050">
              <a:solidFill>
                <a:srgbClr val="94A3B8"/>
              </a:solidFill>
              <a:latin typeface="Inter"/>
              <a:ea typeface="Inter"/>
              <a:cs typeface="Inter"/>
              <a:sym typeface="Inter"/>
            </a:endParaRPr>
          </a:p>
        </p:txBody>
      </p:sp>
      <p:grpSp>
        <p:nvGrpSpPr>
          <p:cNvPr id="310" name="Google Shape;310;p21"/>
          <p:cNvGrpSpPr/>
          <p:nvPr/>
        </p:nvGrpSpPr>
        <p:grpSpPr>
          <a:xfrm>
            <a:off x="4762500" y="1333500"/>
            <a:ext cx="4000500" cy="1143000"/>
            <a:chOff x="0" y="0"/>
            <a:chExt cx="4000500" cy="1143000"/>
          </a:xfrm>
        </p:grpSpPr>
        <p:sp>
          <p:nvSpPr>
            <p:cNvPr id="311" name="Google Shape;311;p21"/>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1"/>
            <p:cNvSpPr/>
            <p:nvPr/>
          </p:nvSpPr>
          <p:spPr>
            <a:xfrm>
              <a:off x="0" y="0"/>
              <a:ext cx="38100" cy="11430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1"/>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21"/>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1"/>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59E0B"/>
                  </a:solidFill>
                  <a:latin typeface="Space Mono"/>
                  <a:ea typeface="Space Mono"/>
                  <a:cs typeface="Space Mono"/>
                  <a:sym typeface="Space Mono"/>
                </a:rPr>
                <a:t>NETWORK TOPOLOGY</a:t>
              </a:r>
              <a:endParaRPr b="1" sz="900">
                <a:solidFill>
                  <a:srgbClr val="F59E0B"/>
                </a:solidFill>
                <a:latin typeface="Space Mono"/>
                <a:ea typeface="Space Mono"/>
                <a:cs typeface="Space Mono"/>
                <a:sym typeface="Space Mono"/>
              </a:endParaRPr>
            </a:p>
            <a:p>
              <a:pPr indent="0" lvl="0" marL="0" rtl="0" algn="l">
                <a:spcBef>
                  <a:spcPts val="300"/>
                </a:spcBef>
                <a:spcAft>
                  <a:spcPts val="0"/>
                </a:spcAft>
                <a:buNone/>
              </a:pPr>
              <a:r>
                <a:rPr b="1" lang="en" sz="2400">
                  <a:solidFill>
                    <a:srgbClr val="F0F4F8"/>
                  </a:solidFill>
                  <a:latin typeface="Space Mono"/>
                  <a:ea typeface="Space Mono"/>
                  <a:cs typeface="Space Mono"/>
                  <a:sym typeface="Space Mono"/>
                </a:rPr>
                <a:t>10 REGIONAL NODES</a:t>
              </a:r>
              <a:endParaRPr b="1" sz="2400">
                <a:solidFill>
                  <a:srgbClr val="F0F4F8"/>
                </a:solidFill>
                <a:latin typeface="Space Mono"/>
                <a:ea typeface="Space Mono"/>
                <a:cs typeface="Space Mono"/>
                <a:sym typeface="Space Mono"/>
              </a:endParaRPr>
            </a:p>
          </p:txBody>
        </p:sp>
      </p:grpSp>
      <p:grpSp>
        <p:nvGrpSpPr>
          <p:cNvPr id="316" name="Google Shape;316;p21"/>
          <p:cNvGrpSpPr/>
          <p:nvPr/>
        </p:nvGrpSpPr>
        <p:grpSpPr>
          <a:xfrm>
            <a:off x="4762500" y="2667000"/>
            <a:ext cx="4000500" cy="1143000"/>
            <a:chOff x="0" y="0"/>
            <a:chExt cx="4000500" cy="1143000"/>
          </a:xfrm>
        </p:grpSpPr>
        <p:sp>
          <p:nvSpPr>
            <p:cNvPr id="317" name="Google Shape;317;p21"/>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1"/>
            <p:cNvSpPr/>
            <p:nvPr/>
          </p:nvSpPr>
          <p:spPr>
            <a:xfrm>
              <a:off x="0" y="0"/>
              <a:ext cx="38100" cy="11430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1"/>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1"/>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1"/>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33">
                  <a:solidFill>
                    <a:srgbClr val="06B6D4"/>
                  </a:solidFill>
                  <a:latin typeface="Space Mono"/>
                  <a:ea typeface="Space Mono"/>
                  <a:cs typeface="Space Mono"/>
                  <a:sym typeface="Space Mono"/>
                </a:rPr>
                <a:t>ALGORITHM</a:t>
              </a:r>
              <a:endParaRPr b="1" sz="833">
                <a:solidFill>
                  <a:srgbClr val="06B6D4"/>
                </a:solidFill>
                <a:latin typeface="Space Mono"/>
                <a:ea typeface="Space Mono"/>
                <a:cs typeface="Space Mono"/>
                <a:sym typeface="Space Mono"/>
              </a:endParaRPr>
            </a:p>
            <a:p>
              <a:pPr indent="0" lvl="0" marL="0" rtl="0" algn="l">
                <a:spcBef>
                  <a:spcPts val="300"/>
                </a:spcBef>
                <a:spcAft>
                  <a:spcPts val="0"/>
                </a:spcAft>
                <a:buNone/>
              </a:pPr>
              <a:r>
                <a:rPr b="1" lang="en" sz="1804">
                  <a:solidFill>
                    <a:srgbClr val="06B6D4"/>
                  </a:solidFill>
                  <a:latin typeface="Space Mono"/>
                  <a:ea typeface="Space Mono"/>
                  <a:cs typeface="Space Mono"/>
                  <a:sym typeface="Space Mono"/>
                </a:rPr>
                <a:t>XI TRADE TENSOR BALANCING</a:t>
              </a:r>
              <a:endParaRPr b="1" sz="1804">
                <a:solidFill>
                  <a:srgbClr val="06B6D4"/>
                </a:solidFill>
                <a:latin typeface="Space Mono"/>
                <a:ea typeface="Space Mono"/>
                <a:cs typeface="Space Mono"/>
                <a:sym typeface="Space Mono"/>
              </a:endParaRPr>
            </a:p>
          </p:txBody>
        </p:sp>
      </p:grpSp>
      <p:grpSp>
        <p:nvGrpSpPr>
          <p:cNvPr id="322" name="Google Shape;322;p21"/>
          <p:cNvGrpSpPr/>
          <p:nvPr/>
        </p:nvGrpSpPr>
        <p:grpSpPr>
          <a:xfrm>
            <a:off x="8320088" y="509588"/>
            <a:ext cx="390600" cy="390600"/>
            <a:chOff x="33338" y="33338"/>
            <a:chExt cx="390600" cy="390600"/>
          </a:xfrm>
        </p:grpSpPr>
        <p:pic>
          <p:nvPicPr>
            <p:cNvPr id="323" name="Google Shape;323;p21"/>
            <p:cNvPicPr preferRelativeResize="0"/>
            <p:nvPr/>
          </p:nvPicPr>
          <p:blipFill rotWithShape="1">
            <a:blip r:embed="rId3">
              <a:alphaModFix/>
            </a:blip>
            <a:srcRect b="0" l="0" r="0" t="0"/>
            <a:stretch/>
          </p:blipFill>
          <p:spPr>
            <a:xfrm>
              <a:off x="33338" y="33338"/>
              <a:ext cx="390600" cy="390600"/>
            </a:xfrm>
            <a:prstGeom prst="rect">
              <a:avLst/>
            </a:prstGeom>
            <a:noFill/>
            <a:ln>
              <a:noFill/>
            </a:ln>
          </p:spPr>
        </p:pic>
        <p:sp>
          <p:nvSpPr>
            <p:cNvPr id="324" name="Google Shape;324;p21"/>
            <p:cNvSpPr/>
            <p:nvPr/>
          </p:nvSpPr>
          <p:spPr>
            <a:xfrm>
              <a:off x="190500" y="190500"/>
              <a:ext cx="76200" cy="76200"/>
            </a:xfrm>
            <a:prstGeom prst="ellipse">
              <a:avLst/>
            </a:prstGeom>
            <a:solidFill>
              <a:srgbClr val="F59E0B">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25" name="Google Shape;325;p21"/>
            <p:cNvPicPr preferRelativeResize="0"/>
            <p:nvPr/>
          </p:nvPicPr>
          <p:blipFill rotWithShape="1">
            <a:blip r:embed="rId4">
              <a:alphaModFix/>
            </a:blip>
            <a:srcRect b="0" l="0" r="0" t="0"/>
            <a:stretch/>
          </p:blipFill>
          <p:spPr>
            <a:xfrm>
              <a:off x="38100" y="38100"/>
              <a:ext cx="381000" cy="381000"/>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grpSp>
        <p:nvGrpSpPr>
          <p:cNvPr id="330" name="Google Shape;330;p22"/>
          <p:cNvGrpSpPr/>
          <p:nvPr/>
        </p:nvGrpSpPr>
        <p:grpSpPr>
          <a:xfrm>
            <a:off x="0" y="0"/>
            <a:ext cx="9144000" cy="5143500"/>
            <a:chOff x="0" y="0"/>
            <a:chExt cx="9144000" cy="5143500"/>
          </a:xfrm>
        </p:grpSpPr>
        <p:sp>
          <p:nvSpPr>
            <p:cNvPr id="331" name="Google Shape;331;p22"/>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22"/>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2"/>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34" name="Google Shape;334;p22"/>
          <p:cNvGrpSpPr/>
          <p:nvPr/>
        </p:nvGrpSpPr>
        <p:grpSpPr>
          <a:xfrm>
            <a:off x="5710238" y="1895475"/>
            <a:ext cx="5724600" cy="1914675"/>
            <a:chOff x="-4762" y="-9525"/>
            <a:chExt cx="5724600" cy="1914675"/>
          </a:xfrm>
        </p:grpSpPr>
        <p:pic>
          <p:nvPicPr>
            <p:cNvPr id="335" name="Google Shape;335;p22"/>
            <p:cNvPicPr preferRelativeResize="0"/>
            <p:nvPr/>
          </p:nvPicPr>
          <p:blipFill rotWithShape="1">
            <a:blip r:embed="rId3">
              <a:alphaModFix/>
            </a:blip>
            <a:srcRect b="0" l="0" r="0" t="0"/>
            <a:stretch/>
          </p:blipFill>
          <p:spPr>
            <a:xfrm>
              <a:off x="-4762" y="-9525"/>
              <a:ext cx="5724600" cy="1447800"/>
            </a:xfrm>
            <a:prstGeom prst="rect">
              <a:avLst/>
            </a:prstGeom>
            <a:noFill/>
            <a:ln>
              <a:noFill/>
            </a:ln>
          </p:spPr>
        </p:pic>
        <p:sp>
          <p:nvSpPr>
            <p:cNvPr id="336" name="Google Shape;336;p22"/>
            <p:cNvSpPr/>
            <p:nvPr/>
          </p:nvSpPr>
          <p:spPr>
            <a:xfrm>
              <a:off x="1371600" y="895350"/>
              <a:ext cx="114300" cy="114300"/>
            </a:xfrm>
            <a:prstGeom prst="ellipse">
              <a:avLst/>
            </a:prstGeom>
            <a:solidFill>
              <a:srgbClr val="06B6D4">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2"/>
            <p:cNvSpPr/>
            <p:nvPr/>
          </p:nvSpPr>
          <p:spPr>
            <a:xfrm>
              <a:off x="2819400" y="438150"/>
              <a:ext cx="76200" cy="76200"/>
            </a:xfrm>
            <a:prstGeom prst="ellipse">
              <a:avLst/>
            </a:prstGeom>
            <a:solidFill>
              <a:srgbClr val="06B6D4">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2"/>
            <p:cNvSpPr/>
            <p:nvPr/>
          </p:nvSpPr>
          <p:spPr>
            <a:xfrm>
              <a:off x="4210050" y="1352550"/>
              <a:ext cx="152400" cy="152400"/>
            </a:xfrm>
            <a:prstGeom prst="ellipse">
              <a:avLst/>
            </a:prstGeom>
            <a:solidFill>
              <a:srgbClr val="06B6D4">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39" name="Google Shape;339;p22"/>
            <p:cNvPicPr preferRelativeResize="0"/>
            <p:nvPr/>
          </p:nvPicPr>
          <p:blipFill rotWithShape="1">
            <a:blip r:embed="rId4">
              <a:alphaModFix/>
            </a:blip>
            <a:srcRect b="0" l="0" r="0" t="0"/>
            <a:stretch/>
          </p:blipFill>
          <p:spPr>
            <a:xfrm>
              <a:off x="1423988" y="476250"/>
              <a:ext cx="2867100" cy="1428900"/>
            </a:xfrm>
            <a:prstGeom prst="rect">
              <a:avLst/>
            </a:prstGeom>
            <a:noFill/>
            <a:ln>
              <a:noFill/>
            </a:ln>
          </p:spPr>
        </p:pic>
      </p:grpSp>
      <p:grpSp>
        <p:nvGrpSpPr>
          <p:cNvPr id="340" name="Google Shape;340;p22"/>
          <p:cNvGrpSpPr/>
          <p:nvPr/>
        </p:nvGrpSpPr>
        <p:grpSpPr>
          <a:xfrm>
            <a:off x="381000" y="142875"/>
            <a:ext cx="8382000" cy="247575"/>
            <a:chOff x="381000" y="142875"/>
            <a:chExt cx="8382000" cy="247575"/>
          </a:xfrm>
        </p:grpSpPr>
        <p:sp>
          <p:nvSpPr>
            <p:cNvPr id="341" name="Google Shape;341;p22"/>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2"/>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22"/>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344" name="Google Shape;344;p22"/>
          <p:cNvGrpSpPr/>
          <p:nvPr/>
        </p:nvGrpSpPr>
        <p:grpSpPr>
          <a:xfrm>
            <a:off x="381000" y="4848225"/>
            <a:ext cx="8382000" cy="247650"/>
            <a:chOff x="381000" y="4848225"/>
            <a:chExt cx="8382000" cy="247650"/>
          </a:xfrm>
        </p:grpSpPr>
        <p:sp>
          <p:nvSpPr>
            <p:cNvPr id="345" name="Google Shape;345;p22"/>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22"/>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2"/>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24 MAY 2026 // SYS.VERIFIED</a:t>
              </a:r>
              <a:endParaRPr b="0" sz="750">
                <a:solidFill>
                  <a:srgbClr val="94A3B8"/>
                </a:solidFill>
                <a:latin typeface="Space Mono"/>
                <a:ea typeface="Space Mono"/>
                <a:cs typeface="Space Mono"/>
                <a:sym typeface="Space Mono"/>
              </a:endParaRPr>
            </a:p>
          </p:txBody>
        </p:sp>
      </p:grpSp>
      <p:sp>
        <p:nvSpPr>
          <p:cNvPr id="348" name="Google Shape;348;p22"/>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100">
                <a:solidFill>
                  <a:srgbClr val="F0F4F8"/>
                </a:solidFill>
                <a:latin typeface="Inter"/>
                <a:ea typeface="Inter"/>
                <a:cs typeface="Inter"/>
                <a:sym typeface="Inter"/>
              </a:rPr>
              <a:t>Trustless Physical Reality Verification via Sensor Cryptography</a:t>
            </a:r>
            <a:endParaRPr b="1" sz="2100">
              <a:solidFill>
                <a:srgbClr val="F0F4F8"/>
              </a:solidFill>
              <a:latin typeface="Inter"/>
              <a:ea typeface="Inter"/>
              <a:cs typeface="Inter"/>
              <a:sym typeface="Inter"/>
            </a:endParaRPr>
          </a:p>
        </p:txBody>
      </p:sp>
      <p:sp>
        <p:nvSpPr>
          <p:cNvPr id="349" name="Google Shape;349;p22"/>
          <p:cNvSpPr txBox="1"/>
          <p:nvPr/>
        </p:nvSpPr>
        <p:spPr>
          <a:xfrm>
            <a:off x="381000" y="1333500"/>
            <a:ext cx="40005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0F4F8"/>
                </a:solidFill>
                <a:latin typeface="Inter"/>
                <a:ea typeface="Inter"/>
                <a:cs typeface="Inter"/>
                <a:sym typeface="Inter"/>
              </a:rPr>
              <a:t>Proof-of-Difficulty (PoD) Sensor Telemetry provides trustless verification of every credit issued.</a:t>
            </a:r>
            <a:endParaRPr b="1" sz="1050">
              <a:solidFill>
                <a:srgbClr val="F0F4F8"/>
              </a:solidFill>
              <a:latin typeface="Inter"/>
              <a:ea typeface="Inter"/>
              <a:cs typeface="Inter"/>
              <a:sym typeface="Inter"/>
            </a:endParaRPr>
          </a:p>
          <a:p>
            <a:pPr indent="0" lvl="0" marL="0" rtl="0" algn="l">
              <a:spcBef>
                <a:spcPts val="900"/>
              </a:spcBef>
              <a:spcAft>
                <a:spcPts val="0"/>
              </a:spcAft>
              <a:buNone/>
            </a:pPr>
            <a:r>
              <a:rPr b="1" lang="en" sz="1050">
                <a:solidFill>
                  <a:srgbClr val="06B6D4"/>
                </a:solidFill>
                <a:latin typeface="Inter"/>
                <a:ea typeface="Inter"/>
                <a:cs typeface="Inter"/>
                <a:sym typeface="Inter"/>
              </a:rPr>
              <a:t>• </a:t>
            </a:r>
            <a:r>
              <a:rPr b="0" lang="en" sz="1050">
                <a:solidFill>
                  <a:srgbClr val="94A3B8"/>
                </a:solidFill>
                <a:latin typeface="Inter"/>
                <a:ea typeface="Inter"/>
                <a:cs typeface="Inter"/>
                <a:sym typeface="Inter"/>
              </a:rPr>
              <a:t>NMI-Certified Weighbridge Ingest: Automated capture of weights, moisture, and protein metrics into Book 3 Reality Ledger.</a:t>
            </a:r>
            <a:endParaRPr/>
          </a:p>
          <a:p>
            <a:pPr indent="0" lvl="0" marL="0" rtl="0" algn="l">
              <a:spcBef>
                <a:spcPts val="750"/>
              </a:spcBef>
              <a:spcAft>
                <a:spcPts val="0"/>
              </a:spcAft>
              <a:buNone/>
            </a:pPr>
            <a:r>
              <a:rPr b="1" lang="en" sz="1050">
                <a:solidFill>
                  <a:srgbClr val="06B6D4"/>
                </a:solidFill>
                <a:latin typeface="Inter"/>
                <a:ea typeface="Inter"/>
                <a:cs typeface="Inter"/>
                <a:sym typeface="Inter"/>
              </a:rPr>
              <a:t>• </a:t>
            </a:r>
            <a:r>
              <a:rPr b="0" lang="en" sz="1050">
                <a:solidFill>
                  <a:srgbClr val="94A3B8"/>
                </a:solidFill>
                <a:latin typeface="Inter"/>
                <a:ea typeface="Inter"/>
                <a:cs typeface="Inter"/>
                <a:sym typeface="Inter"/>
              </a:rPr>
              <a:t>Solar &amp; Inverter Telemetry: Continuous monitoring of MPPT kWh and LiFePO4 battery state-of-health.</a:t>
            </a:r>
            <a:endParaRPr/>
          </a:p>
          <a:p>
            <a:pPr indent="0" lvl="0" marL="0" rtl="0" algn="l">
              <a:spcBef>
                <a:spcPts val="750"/>
              </a:spcBef>
              <a:spcAft>
                <a:spcPts val="1200"/>
              </a:spcAft>
              <a:buNone/>
            </a:pPr>
            <a:r>
              <a:rPr b="1" lang="en" sz="1050">
                <a:solidFill>
                  <a:srgbClr val="06B6D4"/>
                </a:solidFill>
                <a:latin typeface="Inter"/>
                <a:ea typeface="Inter"/>
                <a:cs typeface="Inter"/>
                <a:sym typeface="Inter"/>
              </a:rPr>
              <a:t>• </a:t>
            </a:r>
            <a:r>
              <a:rPr b="0" lang="en" sz="1050">
                <a:solidFill>
                  <a:srgbClr val="94A3B8"/>
                </a:solidFill>
                <a:latin typeface="Inter"/>
                <a:ea typeface="Inter"/>
                <a:cs typeface="Inter"/>
                <a:sym typeface="Inter"/>
              </a:rPr>
              <a:t>Cryptographic State Hashing: Deterministic SHA-256 block headers with multi-guild signature consensus to prevent synthetic credit inflation.</a:t>
            </a:r>
            <a:endParaRPr/>
          </a:p>
        </p:txBody>
      </p:sp>
      <p:grpSp>
        <p:nvGrpSpPr>
          <p:cNvPr id="350" name="Google Shape;350;p22"/>
          <p:cNvGrpSpPr/>
          <p:nvPr/>
        </p:nvGrpSpPr>
        <p:grpSpPr>
          <a:xfrm>
            <a:off x="4762500" y="1333500"/>
            <a:ext cx="4000500" cy="1714500"/>
            <a:chOff x="0" y="0"/>
            <a:chExt cx="4000500" cy="1714500"/>
          </a:xfrm>
        </p:grpSpPr>
        <p:sp>
          <p:nvSpPr>
            <p:cNvPr id="351" name="Google Shape;351;p22"/>
            <p:cNvSpPr/>
            <p:nvPr/>
          </p:nvSpPr>
          <p:spPr>
            <a:xfrm>
              <a:off x="0" y="0"/>
              <a:ext cx="4000500" cy="1714500"/>
            </a:xfrm>
            <a:prstGeom prst="rect">
              <a:avLst/>
            </a:prstGeom>
            <a:solidFill>
              <a:srgbClr val="121D28"/>
            </a:solidFill>
            <a:ln cap="flat" cmpd="sng" w="9525">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 name="Google Shape;352;p22"/>
            <p:cNvSpPr/>
            <p:nvPr/>
          </p:nvSpPr>
          <p:spPr>
            <a:xfrm>
              <a:off x="0" y="0"/>
              <a:ext cx="142800" cy="142800"/>
            </a:xfrm>
            <a:custGeom>
              <a:rect b="b" l="l" r="r" t="t"/>
              <a:pathLst>
                <a:path extrusionOk="0" h="120000" w="120000">
                  <a:moveTo>
                    <a:pt x="0" y="0"/>
                  </a:moveTo>
                  <a:lnTo>
                    <a:pt x="120000" y="0"/>
                  </a:lnTo>
                  <a:lnTo>
                    <a:pt x="120000" y="120000"/>
                  </a:lnTo>
                </a:path>
              </a:pathLst>
            </a:custGeom>
            <a:solidFill>
              <a:srgbClr val="000000">
                <a:alpha val="0"/>
              </a:srgbClr>
            </a:solidFill>
            <a:ln cap="flat"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22"/>
            <p:cNvSpPr/>
            <p:nvPr/>
          </p:nvSpPr>
          <p:spPr>
            <a:xfrm>
              <a:off x="3857625" y="1571625"/>
              <a:ext cx="142800" cy="142800"/>
            </a:xfrm>
            <a:custGeom>
              <a:rect b="b" l="l" r="r" t="t"/>
              <a:pathLst>
                <a:path extrusionOk="0" h="120000" w="120000">
                  <a:moveTo>
                    <a:pt x="120000" y="120000"/>
                  </a:moveTo>
                  <a:lnTo>
                    <a:pt x="0" y="120000"/>
                  </a:lnTo>
                  <a:lnTo>
                    <a:pt x="0" y="0"/>
                  </a:lnTo>
                </a:path>
              </a:pathLst>
            </a:custGeom>
            <a:solidFill>
              <a:srgbClr val="000000">
                <a:alpha val="0"/>
              </a:srgbClr>
            </a:solidFill>
            <a:ln cap="flat"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2"/>
            <p:cNvSpPr txBox="1"/>
            <p:nvPr/>
          </p:nvSpPr>
          <p:spPr>
            <a:xfrm>
              <a:off x="228600" y="228600"/>
              <a:ext cx="3543300" cy="12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6B6D4"/>
                  </a:solidFill>
                  <a:latin typeface="Space Mono"/>
                  <a:ea typeface="Space Mono"/>
                  <a:cs typeface="Space Mono"/>
                  <a:sym typeface="Space Mono"/>
                </a:rPr>
                <a:t>SCHEMATIC DATA READOUT</a:t>
              </a:r>
              <a:endParaRPr b="1" sz="900">
                <a:solidFill>
                  <a:srgbClr val="06B6D4"/>
                </a:solidFill>
                <a:latin typeface="Space Mono"/>
                <a:ea typeface="Space Mono"/>
                <a:cs typeface="Space Mono"/>
                <a:sym typeface="Space Mono"/>
              </a:endParaRPr>
            </a:p>
            <a:p>
              <a:pPr indent="0" lvl="0" marL="0" rtl="0" algn="l">
                <a:spcBef>
                  <a:spcPts val="1200"/>
                </a:spcBef>
                <a:spcAft>
                  <a:spcPts val="0"/>
                </a:spcAft>
                <a:buNone/>
              </a:pPr>
              <a:r>
                <a:rPr b="0" lang="en" sz="900">
                  <a:solidFill>
                    <a:srgbClr val="F0F4F8"/>
                  </a:solidFill>
                  <a:latin typeface="Space Mono"/>
                  <a:ea typeface="Space Mono"/>
                  <a:cs typeface="Space Mono"/>
                  <a:sym typeface="Space Mono"/>
                </a:rPr>
                <a:t>&gt; SENSOR: NMI WEIGHBRIDGE</a:t>
              </a:r>
              <a:endParaRPr b="0" sz="900">
                <a:solidFill>
                  <a:srgbClr val="F0F4F8"/>
                </a:solidFill>
                <a:latin typeface="Space Mono"/>
                <a:ea typeface="Space Mono"/>
                <a:cs typeface="Space Mono"/>
                <a:sym typeface="Space Mono"/>
              </a:endParaRPr>
            </a:p>
            <a:p>
              <a:pPr indent="0" lvl="0" marL="0" rtl="0" algn="l">
                <a:spcBef>
                  <a:spcPts val="600"/>
                </a:spcBef>
                <a:spcAft>
                  <a:spcPts val="0"/>
                </a:spcAft>
                <a:buNone/>
              </a:pPr>
              <a:r>
                <a:rPr b="0" lang="en" sz="900">
                  <a:solidFill>
                    <a:srgbClr val="F0F4F8"/>
                  </a:solidFill>
                  <a:latin typeface="Space Mono"/>
                  <a:ea typeface="Space Mono"/>
                  <a:cs typeface="Space Mono"/>
                  <a:sym typeface="Space Mono"/>
                </a:rPr>
                <a:t>&gt; HASH: SHA-256 VERIFIED</a:t>
              </a:r>
              <a:endParaRPr b="0" sz="900">
                <a:solidFill>
                  <a:srgbClr val="F0F4F8"/>
                </a:solidFill>
                <a:latin typeface="Space Mono"/>
                <a:ea typeface="Space Mono"/>
                <a:cs typeface="Space Mono"/>
                <a:sym typeface="Space Mono"/>
              </a:endParaRPr>
            </a:p>
            <a:p>
              <a:pPr indent="0" lvl="0" marL="0" rtl="0" algn="l">
                <a:spcBef>
                  <a:spcPts val="600"/>
                </a:spcBef>
                <a:spcAft>
                  <a:spcPts val="0"/>
                </a:spcAft>
                <a:buNone/>
              </a:pPr>
              <a:r>
                <a:rPr b="1" lang="en" sz="900">
                  <a:solidFill>
                    <a:srgbClr val="06B6D4"/>
                  </a:solidFill>
                  <a:latin typeface="Space Mono"/>
                  <a:ea typeface="Space Mono"/>
                  <a:cs typeface="Space Mono"/>
                  <a:sym typeface="Space Mono"/>
                </a:rPr>
                <a:t>&gt; STATUS: BOOK 3 COMMITTED</a:t>
              </a:r>
              <a:endParaRPr b="1" sz="900">
                <a:solidFill>
                  <a:srgbClr val="06B6D4"/>
                </a:solidFill>
                <a:latin typeface="Space Mono"/>
                <a:ea typeface="Space Mono"/>
                <a:cs typeface="Space Mono"/>
                <a:sym typeface="Space Mono"/>
              </a:endParaRPr>
            </a:p>
          </p:txBody>
        </p:sp>
        <p:sp>
          <p:nvSpPr>
            <p:cNvPr id="355" name="Google Shape;355;p22"/>
            <p:cNvSpPr/>
            <p:nvPr/>
          </p:nvSpPr>
          <p:spPr>
            <a:xfrm>
              <a:off x="228600" y="571500"/>
              <a:ext cx="3543300" cy="0"/>
            </a:xfrm>
            <a:custGeom>
              <a:rect b="b" l="l" r="r" t="t"/>
              <a:pathLst>
                <a:path extrusionOk="0" fill="none" h="120000" w="120000">
                  <a:moveTo>
                    <a:pt x="0" y="0"/>
                  </a:moveTo>
                  <a:lnTo>
                    <a:pt x="120000" y="0"/>
                  </a:lnTo>
                </a:path>
              </a:pathLst>
            </a:custGeom>
            <a:solidFill>
              <a:srgbClr val="FFFFFF"/>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56" name="Google Shape;356;p22"/>
          <p:cNvGrpSpPr/>
          <p:nvPr/>
        </p:nvGrpSpPr>
        <p:grpSpPr>
          <a:xfrm>
            <a:off x="4762500" y="3238500"/>
            <a:ext cx="4000500" cy="1143000"/>
            <a:chOff x="0" y="0"/>
            <a:chExt cx="4000500" cy="1143000"/>
          </a:xfrm>
        </p:grpSpPr>
        <p:sp>
          <p:nvSpPr>
            <p:cNvPr id="357" name="Google Shape;357;p22"/>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22"/>
            <p:cNvSpPr/>
            <p:nvPr/>
          </p:nvSpPr>
          <p:spPr>
            <a:xfrm>
              <a:off x="0" y="0"/>
              <a:ext cx="38100" cy="11430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22"/>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2"/>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2"/>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765">
                  <a:solidFill>
                    <a:srgbClr val="F59E0B"/>
                  </a:solidFill>
                  <a:latin typeface="Space Mono"/>
                  <a:ea typeface="Space Mono"/>
                  <a:cs typeface="Space Mono"/>
                  <a:sym typeface="Space Mono"/>
                </a:rPr>
                <a:t>VERIFICATION INTEGRITY</a:t>
              </a:r>
              <a:endParaRPr b="1" sz="765">
                <a:solidFill>
                  <a:srgbClr val="F59E0B"/>
                </a:solidFill>
                <a:latin typeface="Space Mono"/>
                <a:ea typeface="Space Mono"/>
                <a:cs typeface="Space Mono"/>
                <a:sym typeface="Space Mono"/>
              </a:endParaRPr>
            </a:p>
            <a:p>
              <a:pPr indent="0" lvl="0" marL="0" rtl="0" algn="l">
                <a:spcBef>
                  <a:spcPts val="600"/>
                </a:spcBef>
                <a:spcAft>
                  <a:spcPts val="600"/>
                </a:spcAft>
                <a:buNone/>
              </a:pPr>
              <a:r>
                <a:rPr b="1" lang="en" sz="3060">
                  <a:solidFill>
                    <a:srgbClr val="F0F4F8"/>
                  </a:solidFill>
                  <a:latin typeface="Space Mono"/>
                  <a:ea typeface="Space Mono"/>
                  <a:cs typeface="Space Mono"/>
                  <a:sym typeface="Space Mono"/>
                </a:rPr>
                <a:t>100%</a:t>
              </a:r>
              <a:endParaRPr b="1" sz="3060">
                <a:solidFill>
                  <a:srgbClr val="F0F4F8"/>
                </a:solidFill>
                <a:latin typeface="Space Mono"/>
                <a:ea typeface="Space Mono"/>
                <a:cs typeface="Space Mono"/>
                <a:sym typeface="Space Mono"/>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grpSp>
        <p:nvGrpSpPr>
          <p:cNvPr id="366" name="Google Shape;366;p23"/>
          <p:cNvGrpSpPr/>
          <p:nvPr/>
        </p:nvGrpSpPr>
        <p:grpSpPr>
          <a:xfrm>
            <a:off x="0" y="0"/>
            <a:ext cx="9144000" cy="5143500"/>
            <a:chOff x="0" y="0"/>
            <a:chExt cx="9144000" cy="5143500"/>
          </a:xfrm>
        </p:grpSpPr>
        <p:sp>
          <p:nvSpPr>
            <p:cNvPr id="367" name="Google Shape;367;p23"/>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23"/>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3"/>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70" name="Google Shape;370;p23"/>
          <p:cNvGrpSpPr/>
          <p:nvPr/>
        </p:nvGrpSpPr>
        <p:grpSpPr>
          <a:xfrm>
            <a:off x="381000" y="142875"/>
            <a:ext cx="8382000" cy="247575"/>
            <a:chOff x="381000" y="142875"/>
            <a:chExt cx="8382000" cy="247575"/>
          </a:xfrm>
        </p:grpSpPr>
        <p:sp>
          <p:nvSpPr>
            <p:cNvPr id="371" name="Google Shape;371;p23"/>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3"/>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3"/>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sp>
        <p:nvSpPr>
          <p:cNvPr id="374" name="Google Shape;374;p23"/>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85">
                <a:solidFill>
                  <a:srgbClr val="F0F4F8"/>
                </a:solidFill>
                <a:latin typeface="Inter"/>
                <a:ea typeface="Inter"/>
                <a:cs typeface="Inter"/>
                <a:sym typeface="Inter"/>
              </a:rPr>
              <a:t>Three-Phase Implementation Timeline for Regional Joint Organisations</a:t>
            </a:r>
            <a:endParaRPr b="1" sz="1785">
              <a:solidFill>
                <a:srgbClr val="F0F4F8"/>
              </a:solidFill>
              <a:latin typeface="Inter"/>
              <a:ea typeface="Inter"/>
              <a:cs typeface="Inter"/>
              <a:sym typeface="Inter"/>
            </a:endParaRPr>
          </a:p>
        </p:txBody>
      </p:sp>
      <p:grpSp>
        <p:nvGrpSpPr>
          <p:cNvPr id="375" name="Google Shape;375;p23"/>
          <p:cNvGrpSpPr/>
          <p:nvPr/>
        </p:nvGrpSpPr>
        <p:grpSpPr>
          <a:xfrm>
            <a:off x="381000" y="1333500"/>
            <a:ext cx="2600400" cy="3048000"/>
            <a:chOff x="0" y="0"/>
            <a:chExt cx="2600400" cy="3048000"/>
          </a:xfrm>
        </p:grpSpPr>
        <p:sp>
          <p:nvSpPr>
            <p:cNvPr id="376" name="Google Shape;376;p23"/>
            <p:cNvSpPr/>
            <p:nvPr/>
          </p:nvSpPr>
          <p:spPr>
            <a:xfrm>
              <a:off x="0" y="0"/>
              <a:ext cx="2600400" cy="3048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23"/>
            <p:cNvSpPr/>
            <p:nvPr/>
          </p:nvSpPr>
          <p:spPr>
            <a:xfrm>
              <a:off x="0" y="190500"/>
              <a:ext cx="26004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3"/>
            <p:cNvSpPr/>
            <p:nvPr/>
          </p:nvSpPr>
          <p:spPr>
            <a:xfrm>
              <a:off x="0" y="0"/>
              <a:ext cx="762000" cy="190500"/>
            </a:xfrm>
            <a:prstGeom prst="rect">
              <a:avLst/>
            </a:prstGeom>
            <a:solidFill>
              <a:srgbClr val="33415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23"/>
            <p:cNvSpPr txBox="1"/>
            <p:nvPr/>
          </p:nvSpPr>
          <p:spPr>
            <a:xfrm>
              <a:off x="38100" y="19050"/>
              <a:ext cx="6858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581">
                  <a:solidFill>
                    <a:srgbClr val="F0F4F8"/>
                  </a:solidFill>
                  <a:latin typeface="Space Mono"/>
                  <a:ea typeface="Space Mono"/>
                  <a:cs typeface="Space Mono"/>
                  <a:sym typeface="Space Mono"/>
                </a:rPr>
                <a:t>PHASE 1 [M1-3]</a:t>
              </a:r>
              <a:endParaRPr b="0" sz="581">
                <a:solidFill>
                  <a:srgbClr val="F0F4F8"/>
                </a:solidFill>
                <a:latin typeface="Space Mono"/>
                <a:ea typeface="Space Mono"/>
                <a:cs typeface="Space Mono"/>
                <a:sym typeface="Space Mono"/>
              </a:endParaRPr>
            </a:p>
          </p:txBody>
        </p:sp>
        <p:sp>
          <p:nvSpPr>
            <p:cNvPr id="380" name="Google Shape;380;p23"/>
            <p:cNvSpPr txBox="1"/>
            <p:nvPr/>
          </p:nvSpPr>
          <p:spPr>
            <a:xfrm>
              <a:off x="152400" y="342900"/>
              <a:ext cx="22956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06B6D4"/>
                  </a:solidFill>
                  <a:latin typeface="Inter"/>
                  <a:ea typeface="Inter"/>
                  <a:cs typeface="Inter"/>
                  <a:sym typeface="Inter"/>
                </a:rPr>
                <a:t>Foundation and Legal Structuring</a:t>
              </a:r>
              <a:endParaRPr b="1" sz="1050">
                <a:solidFill>
                  <a:srgbClr val="06B6D4"/>
                </a:solidFill>
                <a:latin typeface="Inter"/>
                <a:ea typeface="Inter"/>
                <a:cs typeface="Inter"/>
                <a:sym typeface="Inter"/>
              </a:endParaRPr>
            </a:p>
            <a:p>
              <a:pPr indent="-317500" lvl="0" marL="457200" rtl="0" algn="l">
                <a:spcBef>
                  <a:spcPts val="600"/>
                </a:spcBef>
                <a:spcAft>
                  <a:spcPts val="0"/>
                </a:spcAft>
                <a:buSzPts val="1400"/>
                <a:buChar char="●"/>
              </a:pPr>
              <a:r>
                <a:rPr b="0" lang="en" sz="900">
                  <a:solidFill>
                    <a:srgbClr val="94A3B8"/>
                  </a:solidFill>
                  <a:latin typeface="Inter"/>
                  <a:ea typeface="Inter"/>
                  <a:cs typeface="Inter"/>
                  <a:sym typeface="Inter"/>
                </a:rPr>
                <a:t>Internal council workshops and stakeholder alignment.</a:t>
              </a:r>
              <a:endParaRPr b="0" sz="900">
                <a:solidFill>
                  <a:srgbClr val="94A3B8"/>
                </a:solidFill>
                <a:latin typeface="Inter"/>
                <a:ea typeface="Inter"/>
                <a:cs typeface="Inter"/>
                <a:sym typeface="Inter"/>
              </a:endParaRPr>
            </a:p>
            <a:p>
              <a:pPr indent="-317500" lvl="0" marL="457200" rtl="0" algn="l">
                <a:spcBef>
                  <a:spcPts val="750"/>
                </a:spcBef>
                <a:spcAft>
                  <a:spcPts val="0"/>
                </a:spcAft>
                <a:buSzPts val="1400"/>
                <a:buChar char="●"/>
              </a:pPr>
              <a:r>
                <a:rPr b="0" lang="en" sz="900">
                  <a:solidFill>
                    <a:srgbClr val="94A3B8"/>
                  </a:solidFill>
                  <a:latin typeface="Inter"/>
                  <a:ea typeface="Inter"/>
                  <a:cs typeface="Inter"/>
                  <a:sym typeface="Inter"/>
                </a:rPr>
                <a:t>Legal drafting and compliance verification under LGA Act s358.</a:t>
              </a:r>
              <a:endParaRPr b="0" sz="900">
                <a:solidFill>
                  <a:srgbClr val="94A3B8"/>
                </a:solidFill>
                <a:latin typeface="Inter"/>
                <a:ea typeface="Inter"/>
                <a:cs typeface="Inter"/>
                <a:sym typeface="Inter"/>
              </a:endParaRPr>
            </a:p>
            <a:p>
              <a:pPr indent="-317500" lvl="0" marL="457200" rtl="0" algn="l">
                <a:spcBef>
                  <a:spcPts val="750"/>
                </a:spcBef>
                <a:spcAft>
                  <a:spcPts val="1200"/>
                </a:spcAft>
                <a:buSzPts val="1400"/>
                <a:buChar char="●"/>
              </a:pPr>
              <a:r>
                <a:rPr b="0" lang="en" sz="900">
                  <a:solidFill>
                    <a:srgbClr val="94A3B8"/>
                  </a:solidFill>
                  <a:latin typeface="Inter"/>
                  <a:ea typeface="Inter"/>
                  <a:cs typeface="Inter"/>
                  <a:sym typeface="Inter"/>
                </a:rPr>
                <a:t>Direct consultations with local farmer collectives.</a:t>
              </a:r>
              <a:endParaRPr b="0" sz="900">
                <a:solidFill>
                  <a:srgbClr val="94A3B8"/>
                </a:solidFill>
                <a:latin typeface="Inter"/>
                <a:ea typeface="Inter"/>
                <a:cs typeface="Inter"/>
                <a:sym typeface="Inter"/>
              </a:endParaRPr>
            </a:p>
          </p:txBody>
        </p:sp>
      </p:grpSp>
      <p:grpSp>
        <p:nvGrpSpPr>
          <p:cNvPr id="381" name="Google Shape;381;p23"/>
          <p:cNvGrpSpPr/>
          <p:nvPr/>
        </p:nvGrpSpPr>
        <p:grpSpPr>
          <a:xfrm>
            <a:off x="3267075" y="1333500"/>
            <a:ext cx="2600400" cy="3048000"/>
            <a:chOff x="0" y="0"/>
            <a:chExt cx="2600400" cy="3048000"/>
          </a:xfrm>
        </p:grpSpPr>
        <p:sp>
          <p:nvSpPr>
            <p:cNvPr id="382" name="Google Shape;382;p23"/>
            <p:cNvSpPr/>
            <p:nvPr/>
          </p:nvSpPr>
          <p:spPr>
            <a:xfrm>
              <a:off x="0" y="0"/>
              <a:ext cx="2600400" cy="3048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p23"/>
            <p:cNvSpPr/>
            <p:nvPr/>
          </p:nvSpPr>
          <p:spPr>
            <a:xfrm>
              <a:off x="0" y="190500"/>
              <a:ext cx="26004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3"/>
            <p:cNvSpPr/>
            <p:nvPr/>
          </p:nvSpPr>
          <p:spPr>
            <a:xfrm>
              <a:off x="0" y="0"/>
              <a:ext cx="762000" cy="190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23"/>
            <p:cNvSpPr txBox="1"/>
            <p:nvPr/>
          </p:nvSpPr>
          <p:spPr>
            <a:xfrm>
              <a:off x="38100" y="19050"/>
              <a:ext cx="6858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581">
                  <a:solidFill>
                    <a:srgbClr val="0A1118"/>
                  </a:solidFill>
                  <a:latin typeface="Space Mono"/>
                  <a:ea typeface="Space Mono"/>
                  <a:cs typeface="Space Mono"/>
                  <a:sym typeface="Space Mono"/>
                </a:rPr>
                <a:t>PHASE 2 [M4-6]</a:t>
              </a:r>
              <a:endParaRPr b="1" sz="581">
                <a:solidFill>
                  <a:srgbClr val="0A1118"/>
                </a:solidFill>
                <a:latin typeface="Space Mono"/>
                <a:ea typeface="Space Mono"/>
                <a:cs typeface="Space Mono"/>
                <a:sym typeface="Space Mono"/>
              </a:endParaRPr>
            </a:p>
          </p:txBody>
        </p:sp>
        <p:sp>
          <p:nvSpPr>
            <p:cNvPr id="386" name="Google Shape;386;p23"/>
            <p:cNvSpPr txBox="1"/>
            <p:nvPr/>
          </p:nvSpPr>
          <p:spPr>
            <a:xfrm>
              <a:off x="152400" y="342900"/>
              <a:ext cx="22956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06B6D4"/>
                  </a:solidFill>
                  <a:latin typeface="Inter"/>
                  <a:ea typeface="Inter"/>
                  <a:cs typeface="Inter"/>
                  <a:sym typeface="Inter"/>
                </a:rPr>
                <a:t>Chartering and Initial Deployment</a:t>
              </a:r>
              <a:endParaRPr b="1" sz="1050">
                <a:solidFill>
                  <a:srgbClr val="06B6D4"/>
                </a:solidFill>
                <a:latin typeface="Inter"/>
                <a:ea typeface="Inter"/>
                <a:cs typeface="Inter"/>
                <a:sym typeface="Inter"/>
              </a:endParaRPr>
            </a:p>
            <a:p>
              <a:pPr indent="-317500" lvl="0" marL="457200" rtl="0" algn="l">
                <a:spcBef>
                  <a:spcPts val="600"/>
                </a:spcBef>
                <a:spcAft>
                  <a:spcPts val="0"/>
                </a:spcAft>
                <a:buSzPts val="1400"/>
                <a:buChar char="●"/>
              </a:pPr>
              <a:r>
                <a:rPr b="0" lang="en" sz="900">
                  <a:solidFill>
                    <a:srgbClr val="94A3B8"/>
                  </a:solidFill>
                  <a:latin typeface="Inter"/>
                  <a:ea typeface="Inter"/>
                  <a:cs typeface="Inter"/>
                  <a:sym typeface="Inter"/>
                </a:rPr>
                <a:t>Official registration of the SMCU institutional charter.</a:t>
              </a:r>
              <a:endParaRPr b="0" sz="900">
                <a:solidFill>
                  <a:srgbClr val="94A3B8"/>
                </a:solidFill>
                <a:latin typeface="Inter"/>
                <a:ea typeface="Inter"/>
                <a:cs typeface="Inter"/>
                <a:sym typeface="Inter"/>
              </a:endParaRPr>
            </a:p>
            <a:p>
              <a:pPr indent="-317500" lvl="0" marL="457200" rtl="0" algn="l">
                <a:spcBef>
                  <a:spcPts val="750"/>
                </a:spcBef>
                <a:spcAft>
                  <a:spcPts val="0"/>
                </a:spcAft>
                <a:buSzPts val="1400"/>
                <a:buChar char="●"/>
              </a:pPr>
              <a:r>
                <a:rPr b="0" lang="en" sz="900">
                  <a:solidFill>
                    <a:srgbClr val="94A3B8"/>
                  </a:solidFill>
                  <a:latin typeface="Inter"/>
                  <a:ea typeface="Inter"/>
                  <a:cs typeface="Inter"/>
                  <a:sym typeface="Inter"/>
                </a:rPr>
                <a:t>Deployment of Form SCU-A1 agricultural refinancing protocols.</a:t>
              </a:r>
              <a:endParaRPr b="0" sz="900">
                <a:solidFill>
                  <a:srgbClr val="94A3B8"/>
                </a:solidFill>
                <a:latin typeface="Inter"/>
                <a:ea typeface="Inter"/>
                <a:cs typeface="Inter"/>
                <a:sym typeface="Inter"/>
              </a:endParaRPr>
            </a:p>
            <a:p>
              <a:pPr indent="-317500" lvl="0" marL="457200" rtl="0" algn="l">
                <a:spcBef>
                  <a:spcPts val="750"/>
                </a:spcBef>
                <a:spcAft>
                  <a:spcPts val="1200"/>
                </a:spcAft>
                <a:buSzPts val="1400"/>
                <a:buChar char="●"/>
              </a:pPr>
              <a:r>
                <a:rPr b="0" lang="en" sz="900">
                  <a:solidFill>
                    <a:srgbClr val="94A3B8"/>
                  </a:solidFill>
                  <a:latin typeface="Inter"/>
                  <a:ea typeface="Inter"/>
                  <a:cs typeface="Inter"/>
                  <a:sym typeface="Inter"/>
                </a:rPr>
                <a:t>Execution of baseline physical buffer and reserve audits.</a:t>
              </a:r>
              <a:endParaRPr b="0" sz="900">
                <a:solidFill>
                  <a:srgbClr val="94A3B8"/>
                </a:solidFill>
                <a:latin typeface="Inter"/>
                <a:ea typeface="Inter"/>
                <a:cs typeface="Inter"/>
                <a:sym typeface="Inter"/>
              </a:endParaRPr>
            </a:p>
          </p:txBody>
        </p:sp>
      </p:grpSp>
      <p:grpSp>
        <p:nvGrpSpPr>
          <p:cNvPr id="387" name="Google Shape;387;p23"/>
          <p:cNvGrpSpPr/>
          <p:nvPr/>
        </p:nvGrpSpPr>
        <p:grpSpPr>
          <a:xfrm>
            <a:off x="6162675" y="1333500"/>
            <a:ext cx="2600400" cy="3048000"/>
            <a:chOff x="0" y="0"/>
            <a:chExt cx="2600400" cy="3048000"/>
          </a:xfrm>
        </p:grpSpPr>
        <p:sp>
          <p:nvSpPr>
            <p:cNvPr id="388" name="Google Shape;388;p23"/>
            <p:cNvSpPr/>
            <p:nvPr/>
          </p:nvSpPr>
          <p:spPr>
            <a:xfrm>
              <a:off x="0" y="0"/>
              <a:ext cx="2600400" cy="3048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3"/>
            <p:cNvSpPr/>
            <p:nvPr/>
          </p:nvSpPr>
          <p:spPr>
            <a:xfrm>
              <a:off x="0" y="190500"/>
              <a:ext cx="26004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23"/>
            <p:cNvSpPr/>
            <p:nvPr/>
          </p:nvSpPr>
          <p:spPr>
            <a:xfrm>
              <a:off x="0" y="0"/>
              <a:ext cx="762000" cy="190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23"/>
            <p:cNvSpPr txBox="1"/>
            <p:nvPr/>
          </p:nvSpPr>
          <p:spPr>
            <a:xfrm>
              <a:off x="38100" y="19050"/>
              <a:ext cx="6858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581">
                  <a:solidFill>
                    <a:srgbClr val="0A1118"/>
                  </a:solidFill>
                  <a:latin typeface="Space Mono"/>
                  <a:ea typeface="Space Mono"/>
                  <a:cs typeface="Space Mono"/>
                  <a:sym typeface="Space Mono"/>
                </a:rPr>
                <a:t>PHASE 3 [M7-12]</a:t>
              </a:r>
              <a:endParaRPr b="1" sz="581">
                <a:solidFill>
                  <a:srgbClr val="0A1118"/>
                </a:solidFill>
                <a:latin typeface="Space Mono"/>
                <a:ea typeface="Space Mono"/>
                <a:cs typeface="Space Mono"/>
                <a:sym typeface="Space Mono"/>
              </a:endParaRPr>
            </a:p>
          </p:txBody>
        </p:sp>
        <p:sp>
          <p:nvSpPr>
            <p:cNvPr id="392" name="Google Shape;392;p23"/>
            <p:cNvSpPr txBox="1"/>
            <p:nvPr/>
          </p:nvSpPr>
          <p:spPr>
            <a:xfrm>
              <a:off x="152400" y="342900"/>
              <a:ext cx="22956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59E0B"/>
                  </a:solidFill>
                  <a:latin typeface="Inter"/>
                  <a:ea typeface="Inter"/>
                  <a:cs typeface="Inter"/>
                  <a:sym typeface="Inter"/>
                </a:rPr>
                <a:t>Network Integration and Clearing</a:t>
              </a:r>
              <a:endParaRPr b="1" sz="1050">
                <a:solidFill>
                  <a:srgbClr val="F59E0B"/>
                </a:solidFill>
                <a:latin typeface="Inter"/>
                <a:ea typeface="Inter"/>
                <a:cs typeface="Inter"/>
                <a:sym typeface="Inter"/>
              </a:endParaRPr>
            </a:p>
            <a:p>
              <a:pPr indent="-317500" lvl="0" marL="457200" rtl="0" algn="l">
                <a:spcBef>
                  <a:spcPts val="600"/>
                </a:spcBef>
                <a:spcAft>
                  <a:spcPts val="0"/>
                </a:spcAft>
                <a:buSzPts val="1400"/>
                <a:buChar char="●"/>
              </a:pPr>
              <a:r>
                <a:rPr b="0" lang="en" sz="900">
                  <a:solidFill>
                    <a:srgbClr val="94A3B8"/>
                  </a:solidFill>
                  <a:latin typeface="Inter"/>
                  <a:ea typeface="Inter"/>
                  <a:cs typeface="Inter"/>
                  <a:sym typeface="Inter"/>
                </a:rPr>
                <a:t>Joint Powers Alliance compact execution and legal activation.</a:t>
              </a:r>
              <a:endParaRPr b="0" sz="900">
                <a:solidFill>
                  <a:srgbClr val="94A3B8"/>
                </a:solidFill>
                <a:latin typeface="Inter"/>
                <a:ea typeface="Inter"/>
                <a:cs typeface="Inter"/>
                <a:sym typeface="Inter"/>
              </a:endParaRPr>
            </a:p>
            <a:p>
              <a:pPr indent="-317500" lvl="0" marL="457200" rtl="0" algn="l">
                <a:spcBef>
                  <a:spcPts val="750"/>
                </a:spcBef>
                <a:spcAft>
                  <a:spcPts val="0"/>
                </a:spcAft>
                <a:buSzPts val="1400"/>
                <a:buChar char="●"/>
              </a:pPr>
              <a:r>
                <a:rPr b="0" lang="en" sz="900">
                  <a:solidFill>
                    <a:srgbClr val="94A3B8"/>
                  </a:solidFill>
                  <a:latin typeface="Inter"/>
                  <a:ea typeface="Inter"/>
                  <a:cs typeface="Inter"/>
                  <a:sym typeface="Inter"/>
                </a:rPr>
                <a:t>Full integration of weighbridge telemetry and sensor data.</a:t>
              </a:r>
              <a:endParaRPr b="0" sz="900">
                <a:solidFill>
                  <a:srgbClr val="94A3B8"/>
                </a:solidFill>
                <a:latin typeface="Inter"/>
                <a:ea typeface="Inter"/>
                <a:cs typeface="Inter"/>
                <a:sym typeface="Inter"/>
              </a:endParaRPr>
            </a:p>
            <a:p>
              <a:pPr indent="-317500" lvl="0" marL="457200" rtl="0" algn="l">
                <a:spcBef>
                  <a:spcPts val="750"/>
                </a:spcBef>
                <a:spcAft>
                  <a:spcPts val="1200"/>
                </a:spcAft>
                <a:buSzPts val="1400"/>
                <a:buChar char="●"/>
              </a:pPr>
              <a:r>
                <a:rPr b="0" lang="en" sz="900">
                  <a:solidFill>
                    <a:srgbClr val="94A3B8"/>
                  </a:solidFill>
                  <a:latin typeface="Inter"/>
                  <a:ea typeface="Inter"/>
                  <a:cs typeface="Inter"/>
                  <a:sym typeface="Inter"/>
                </a:rPr>
                <a:t>Rollout of the automated mutual credit clearing network.</a:t>
              </a:r>
              <a:endParaRPr b="0" sz="900">
                <a:solidFill>
                  <a:srgbClr val="94A3B8"/>
                </a:solidFill>
                <a:latin typeface="Inter"/>
                <a:ea typeface="Inter"/>
                <a:cs typeface="Inter"/>
                <a:sym typeface="Inter"/>
              </a:endParaRPr>
            </a:p>
          </p:txBody>
        </p:sp>
      </p:grpSp>
      <p:grpSp>
        <p:nvGrpSpPr>
          <p:cNvPr id="393" name="Google Shape;393;p23"/>
          <p:cNvGrpSpPr/>
          <p:nvPr/>
        </p:nvGrpSpPr>
        <p:grpSpPr>
          <a:xfrm>
            <a:off x="381000" y="4848225"/>
            <a:ext cx="8382000" cy="247650"/>
            <a:chOff x="381000" y="4848225"/>
            <a:chExt cx="8382000" cy="247650"/>
          </a:xfrm>
        </p:grpSpPr>
        <p:sp>
          <p:nvSpPr>
            <p:cNvPr id="394" name="Google Shape;394;p23"/>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23"/>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3"/>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2026-05-14 // SYS.VERIFIED</a:t>
              </a:r>
              <a:endParaRPr b="0" sz="750">
                <a:solidFill>
                  <a:srgbClr val="94A3B8"/>
                </a:solidFill>
                <a:latin typeface="Space Mono"/>
                <a:ea typeface="Space Mono"/>
                <a:cs typeface="Space Mono"/>
                <a:sym typeface="Space Mono"/>
              </a:endParaRPr>
            </a:p>
          </p:txBody>
        </p:sp>
      </p:grpSp>
      <p:grpSp>
        <p:nvGrpSpPr>
          <p:cNvPr id="397" name="Google Shape;397;p23"/>
          <p:cNvGrpSpPr/>
          <p:nvPr/>
        </p:nvGrpSpPr>
        <p:grpSpPr>
          <a:xfrm>
            <a:off x="8317230" y="792480"/>
            <a:ext cx="304800" cy="304800"/>
            <a:chOff x="38100" y="38100"/>
            <a:chExt cx="381000" cy="381000"/>
          </a:xfrm>
        </p:grpSpPr>
        <p:sp>
          <p:nvSpPr>
            <p:cNvPr id="398" name="Google Shape;398;p23"/>
            <p:cNvSpPr/>
            <p:nvPr/>
          </p:nvSpPr>
          <p:spPr>
            <a:xfrm>
              <a:off x="38100" y="38100"/>
              <a:ext cx="381000" cy="381000"/>
            </a:xfrm>
            <a:prstGeom prst="ellipse">
              <a:avLst/>
            </a:prstGeom>
            <a:solidFill>
              <a:srgbClr val="000000">
                <a:alpha val="0"/>
              </a:srgbClr>
            </a:solidFill>
            <a:ln cap="flat"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3"/>
            <p:cNvSpPr/>
            <p:nvPr/>
          </p:nvSpPr>
          <p:spPr>
            <a:xfrm>
              <a:off x="190500" y="19050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23"/>
            <p:cNvSpPr/>
            <p:nvPr/>
          </p:nvSpPr>
          <p:spPr>
            <a:xfrm>
              <a:off x="38100" y="38100"/>
              <a:ext cx="381000" cy="381000"/>
            </a:xfrm>
            <a:custGeom>
              <a:rect b="b" l="l" r="r" t="t"/>
              <a:pathLst>
                <a:path extrusionOk="0" fill="none" h="120000" w="120000">
                  <a:moveTo>
                    <a:pt x="60000" y="0"/>
                  </a:moveTo>
                  <a:lnTo>
                    <a:pt x="60000" y="36000"/>
                  </a:lnTo>
                  <a:moveTo>
                    <a:pt x="60000" y="84000"/>
                  </a:moveTo>
                  <a:lnTo>
                    <a:pt x="60000" y="120000"/>
                  </a:lnTo>
                  <a:moveTo>
                    <a:pt x="0" y="60000"/>
                  </a:moveTo>
                  <a:lnTo>
                    <a:pt x="36000" y="60000"/>
                  </a:lnTo>
                  <a:moveTo>
                    <a:pt x="84000" y="60000"/>
                  </a:moveTo>
                  <a:lnTo>
                    <a:pt x="120000" y="60000"/>
                  </a:lnTo>
                </a:path>
              </a:pathLst>
            </a:custGeom>
            <a:solidFill>
              <a:srgbClr val="FFFFFF"/>
            </a:solidFill>
            <a:ln cap="flat" cmpd="sng" w="1430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